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1148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400" kern="0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Banco de Dados – Biblioteca Universitária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&amp; 4  —  Análise Formal das Formas Normais + Implementação SQL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788920"/>
            <a:ext cx="2103120" cy="457200"/>
          </a:xfrm>
          <a:prstGeom prst="rect">
            <a:avLst/>
          </a:prstGeom>
          <a:solidFill>
            <a:srgbClr val="00C8D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2788920"/>
            <a:ext cx="2103120" cy="457200"/>
          </a:xfrm>
          <a:prstGeom prst="rect">
            <a:avLst/>
          </a:prstGeom>
          <a:solidFill>
            <a:srgbClr val="00C8D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2788920"/>
            <a:ext cx="2103120" cy="457200"/>
          </a:xfrm>
          <a:prstGeom prst="rect">
            <a:avLst/>
          </a:prstGeom>
          <a:solidFill>
            <a:srgbClr val="00C8D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TOMBAMENTO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" y="440740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Alunos: Matheus Dias · João Otávio · Tiago Glueck · Gustavo Yannes · Guilherme Marques · Junio Tiago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" y="469087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Elmasri &amp; Navathe, Caps. 10–11, 7ª 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da Apresentação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de Normalização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1430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RESERVA — Análise 1FN, 2FN, 3FN, BCNF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0312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103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10312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MULTA — Análise 1FN, 2FN, 3FN, BCNF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0312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103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7800" y="210312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EXEMPLAR — Análise 1FN, 2FN, 3FN, BCNF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6324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0632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0632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Trade-offs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6324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0632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306324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Criação das Tabelas (SQL)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02336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02336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40233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40233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Inserção de Dados de Teste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420624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4023360"/>
            <a:ext cx="502920" cy="804672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0233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40233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(Q1–Q10)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de Normalização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685800" cy="16002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52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Forma Normal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atômicos, sem grupos repetitivos e sem atributos multivalorados. Cada célula contém um único valor indivisível.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20624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685800" cy="1600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4300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252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Forma Normal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em 1FN + nenhum atributo não-chave possui dependência parcial em relação a qualquer chave candidata.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0624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685800" cy="1600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9260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Terceira Forma Normal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em 2FN + sem dependências funcionais transitivas (não-chave → não-chave).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20624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26080"/>
            <a:ext cx="685800" cy="1600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9260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Boyce-Codd Normal 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383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DF X→Y, X deve ser superchave. É mais restrita que a 3FN e cobre casos onde há múltiplas chaves candidatas sobrepostas.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Normalização = eliminar redundância + garantir integridade — não apenas decompor tabelas.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RESERVA — Estrutura &amp; Dependências Funcionais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8686800" cy="685800"/>
          </a:xfrm>
          <a:prstGeom prst="rect">
            <a:avLst/>
          </a:prstGeom>
          <a:solidFill>
            <a:srgbClr val="2A0A0A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Tabela Inicial (não normalizada)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 | Data_Reserva | Data_Validade | Status | ID_Usuario | Nome_Usuario | ID_Tombo | Nome_Exemplar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Funcionais Identificadas: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240280"/>
            <a:ext cx="8686800" cy="685800"/>
          </a:xfrm>
          <a:prstGeom prst="rect">
            <a:avLst/>
          </a:prstGeom>
          <a:solidFill>
            <a:srgbClr val="162032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40280"/>
            <a:ext cx="91440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13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 → Data_Reserva, Data_Validade, Status, ID_Usuario, ID_Tombo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direta (PK)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8686800" cy="685800"/>
          </a:xfrm>
          <a:prstGeom prst="rect">
            <a:avLst/>
          </a:prstGeom>
          <a:solidFill>
            <a:srgbClr val="162032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9144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36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 → Nome_Usuario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transitiva  ←  PROBLEMA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886200"/>
            <a:ext cx="8686800" cy="685800"/>
          </a:xfrm>
          <a:prstGeom prst="rect">
            <a:avLst/>
          </a:prstGeom>
          <a:solidFill>
            <a:srgbClr val="162032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886200"/>
            <a:ext cx="9144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59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 → Nome_Exemplar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702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transitiva  ←  PROBLEMA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RESERVA — Análise das Formas Normais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1FN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 e indivisíveis. Não há grupos repetitivos nem atributos multivalorados. Existe uma chave primária simples (ID_Reserva).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2FN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PK é simples (ID_Reserva). Com chave simples não é possível existir dependência parcial — todos os atributos dependem totalmente de ID_Reserva.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420624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satisfaz a 3FN 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dependências transitivas: ID_Reserva → ID_Usuario → Nome_Usuario e ID_Reserva → ID_Tombo → Nome_Exemplar. Atributos não-chave determinam outros não-chave.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420624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satisfaz a BCNF 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DFs ID_Usuario → Nome_Usuario e ID_Tombo → Nome_Exemplar têm determinantes que não são superchaves de RESERVA. Após decomposição em 3 tabelas, 3FN e BCNF são satisfeitas.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RESERVA — Esquema Normalizado Resultante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54480"/>
            <a:ext cx="2743200" cy="923544"/>
          </a:xfrm>
          <a:prstGeom prst="rect">
            <a:avLst/>
          </a:prstGeom>
          <a:solidFill>
            <a:srgbClr val="0A1520"/>
          </a:solidFill>
          <a:ln w="1905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655064"/>
            <a:ext cx="411480" cy="23774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6550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Nome_Usuario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143000"/>
            <a:ext cx="274320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172968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72968" y="1554480"/>
            <a:ext cx="2743200" cy="923544"/>
          </a:xfrm>
          <a:prstGeom prst="rect">
            <a:avLst/>
          </a:prstGeom>
          <a:solidFill>
            <a:srgbClr val="0A152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67528" y="1655064"/>
            <a:ext cx="411480" cy="23774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5367528" y="16550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039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Nome_Exemplar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7336" y="1143000"/>
            <a:ext cx="2743200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117336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17336" y="1554480"/>
            <a:ext cx="2743200" cy="2679192"/>
          </a:xfrm>
          <a:prstGeom prst="rect">
            <a:avLst/>
          </a:prstGeom>
          <a:solidFill>
            <a:srgbClr val="0A152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11896" y="1655064"/>
            <a:ext cx="411480" cy="23774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8311896" y="16550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2039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Data_Reserva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2478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Data_Validade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916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11896" y="3410712"/>
            <a:ext cx="411480" cy="23774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8311896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3794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11896" y="3849624"/>
            <a:ext cx="411480" cy="23774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8311896" y="38496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44805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tabela contém apenas atributos que dependem diretamente da sua chave primária — eliminando as dependências transitivas.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MULTA — Estrutura &amp; Dependências Funcionais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023360" cy="384048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27048"/>
            <a:ext cx="4023360" cy="3182112"/>
          </a:xfrm>
          <a:prstGeom prst="rect">
            <a:avLst/>
          </a:prstGeom>
          <a:solidFill>
            <a:srgbClr val="0A1520"/>
          </a:solidFill>
          <a:ln w="1524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id_multa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12848" y="1563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30168" y="1636776"/>
            <a:ext cx="41148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636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12848" y="1947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data_geracao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12848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data_pagamento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12848" y="2715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099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dias_atraso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12848" y="3099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483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12848" y="34838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3867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id_emprestimo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12848" y="3867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30168" y="3941064"/>
            <a:ext cx="4114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39410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id_motivo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12848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30168" y="4325112"/>
            <a:ext cx="4114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3630168" y="43251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11430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Funcional: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1508760"/>
            <a:ext cx="4434840" cy="14173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1581912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id_multa → valor,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data_geracao,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data_pagamento,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dias_atraso,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status,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id_emprestimo,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id_motivo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0" y="29992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Obs.: id_emprestimo e id_motivo são chaves estrangeiras. Os atributos dessas entidades residem em suas próprias tabelas normalizadas, sem causar transitividade interna.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MULTA — Análise das Formas Normais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1FN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atômicos. Não há grupos repetitivos nem atributos multivalorados. Chave primária simples definida (id_multa).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2FN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primária é simples (id_multa), portanto não há como existir dependência parcial. Todos os atributos dependem totalmente de id_multa.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3FN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atributos não-chave dependendo de outros não-chave. id_emprestimo e id_motivo são FKs cujos atributos residem em suas próprias tabelas.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BCNF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DF identificada, o determinante é superchave (id_multa). Não há DF cujo determinante não seja superchave. A tabela está em BCNF.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EXEMPLAR — Estrutura &amp; Dependências Funcionais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3931920" cy="384048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27048"/>
            <a:ext cx="3931920" cy="2798064"/>
          </a:xfrm>
          <a:prstGeom prst="rect">
            <a:avLst/>
          </a:prstGeom>
          <a:solidFill>
            <a:srgbClr val="0A1520"/>
          </a:solidFill>
          <a:ln w="1905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636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75888" y="1636776"/>
            <a:ext cx="36576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6367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tipo_aquisicao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947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data_aquisicao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valor_compra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715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3099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30998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3483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conservacao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483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3867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id_localizacao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867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75888" y="3941064"/>
            <a:ext cx="36576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3675888" y="39410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1143000"/>
            <a:ext cx="3931920" cy="38404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LOCALIZACAO_FISICA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1527048"/>
            <a:ext cx="3931920" cy="1645920"/>
          </a:xfrm>
          <a:prstGeom prst="rect">
            <a:avLst/>
          </a:prstGeom>
          <a:solidFill>
            <a:srgbClr val="0A152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02352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id_localizacao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15636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30768" y="1636776"/>
            <a:ext cx="36576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8430768" y="16367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02352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endereco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1947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02352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02352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estante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2715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1883664"/>
            <a:ext cx="8229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228600" y="44348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Funcionais: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4681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DF1: id_tombo → tipo_aquisicao, data_aquisicao, valor_compra, status, conservacao, id_localizacao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" y="49103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DF2: id_localizacao → endereco, andar, estante    ← dependência transitiva (PROBLEMA)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EXEMPLAR — Análise das Formas Normais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1FN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 e indivisíveis. Não há grupos repetitivos nem multivalorados. PK simples definida (id_tombo).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20624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1704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Satisfaz a 2FN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39903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PK é simples (id_tombo), portanto não há dependência parcial. Todos os atributos de EXEMPLAR dependem totalmente de id_tombo.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420624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satisfaz a 3FN 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dependência transitiva: id_tombo → id_localizacao → {endereco, andar, estante}. Atributos de localização dependem de id_localizacao (não-chave), não de id_tombo.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20624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4206240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0906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Não satisfaz a BCNF 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319272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 id_localizacao → {endereco, andar, estante} tem id_localizacao como determinante, que não é superchave de EXEMPLAR. Solução: separar LOCALIZACAO_FISICA em tabela própria.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EXEMPLAR + LOCALIZACAO_FISICA elimina a transitividade e satisfaz 3FN e BCNF.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Comparativo — Situação das Formas Normais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292608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143000"/>
            <a:ext cx="137160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137160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143000"/>
            <a:ext cx="137160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1143000"/>
            <a:ext cx="1371600" cy="41148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1554480"/>
            <a:ext cx="29260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155448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155448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55448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155448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2148840"/>
            <a:ext cx="29260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(inicial)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214884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214884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2148840"/>
            <a:ext cx="1371600" cy="548640"/>
          </a:xfrm>
          <a:prstGeom prst="rect">
            <a:avLst/>
          </a:prstGeom>
          <a:solidFill>
            <a:srgbClr val="2A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69480" y="2148840"/>
            <a:ext cx="1371600" cy="548640"/>
          </a:xfrm>
          <a:prstGeom prst="rect">
            <a:avLst/>
          </a:prstGeom>
          <a:solidFill>
            <a:srgbClr val="2A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2743200"/>
            <a:ext cx="292608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(normalizada)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54680" y="274320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26280" y="274320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97880" y="274320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69480" y="274320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8600" y="3337560"/>
            <a:ext cx="29260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 (inicial)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154680" y="333756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26280" y="333756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897880" y="3337560"/>
            <a:ext cx="1371600" cy="548640"/>
          </a:xfrm>
          <a:prstGeom prst="rect">
            <a:avLst/>
          </a:prstGeom>
          <a:solidFill>
            <a:srgbClr val="2A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69480" y="3337560"/>
            <a:ext cx="1371600" cy="548640"/>
          </a:xfrm>
          <a:prstGeom prst="rect">
            <a:avLst/>
          </a:prstGeom>
          <a:solidFill>
            <a:srgbClr val="2A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" y="3931920"/>
            <a:ext cx="292608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 + LOCALIZAÇÃO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154680" y="393192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546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26280" y="393192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262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897880" y="393192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978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269480" y="3931920"/>
            <a:ext cx="1371600" cy="548640"/>
          </a:xfrm>
          <a:prstGeom prst="rect">
            <a:avLst/>
          </a:prstGeom>
          <a:solidFill>
            <a:srgbClr val="0A2A1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94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 EXEMPLAR falham em 3FN/BCNF por dependências transitivas (não parciais — a PK é simples). Após as decomposições, todas as formas normais são satisfeitas.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Trade-offs de Normalização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691640"/>
          </a:xfrm>
          <a:prstGeom prst="rect">
            <a:avLst/>
          </a:prstGeom>
          <a:solidFill>
            <a:srgbClr val="162032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658368" cy="16916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6583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78408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Eliminada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6459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decomposições garantem que cada fato seja armazenado uma única vez, evitando anomalias de inserção, atualização e deleção.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206240" cy="1691640"/>
          </a:xfrm>
          <a:prstGeom prst="rect">
            <a:avLst/>
          </a:prstGeom>
          <a:solidFill>
            <a:srgbClr val="162032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658368" cy="1691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43000"/>
            <a:ext cx="6583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13248" y="1280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Performance vs Integridade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3248" y="16459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pode exigir mais JOINs. Em casos de alta carga de leitura, aceita-se desnormalização controlada com justificativa formal.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206240" cy="169164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8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658368" cy="169164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3017520"/>
            <a:ext cx="6583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78408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Referencial Mantida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35204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(id_emprestimo, id_usuario, id_tombo, id_localizacao) garantem consistência entre tabelas após as decomposições.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206240" cy="1691640"/>
          </a:xfrm>
          <a:prstGeom prst="rect">
            <a:avLst/>
          </a:prstGeom>
          <a:solidFill>
            <a:srgbClr val="162032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658368" cy="1691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17520"/>
            <a:ext cx="6583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13248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≠ Apenas Decompor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35204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central é compreender as dependências funcionais e tomar decisões baseadas na semântica dos dados.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Elmasri &amp; Navathe — Sistemas de Banco de Dados, 7ª ed., Caps. 10–11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Criação das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Usuário &amp; Endereço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ENDERECO, USUARIO e TELEFONE_USUARIO. O usuário tem tipo (ALUNO, PROFESSOR, FUNCIONARIO), CPF único, email único e está vinculado a um endereço via FK.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755648"/>
            <a:ext cx="4251960" cy="320040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28800"/>
            <a:ext cx="4069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ENDERECO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id_endereco SERIAL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cep         CHAR(9)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logradouro  VARCHAR(120)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numero      VARCHAR(10)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bairro      VARCHAR(60)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cidade      VARCHAR(60)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ck_cep_formato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(cep ~ '^[0-9]{5}-[0-9]{3}$')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51960" cy="320040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828800"/>
            <a:ext cx="4069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USUARIO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id_usuario      SERIAL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primeiro_nome   VARCHAR(50)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sobrenome  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cpf             CHAR(14)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    VARCHAR(120)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data_nascimento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data_cadastro   DATE DEFAULT CURRENT_DATE,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tipo_usuario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id_endereco 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fk_usuario_endereco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(id_endereco)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ENDERECO(id_endereco),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ck_usuario_tipo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(tipo_usuario IN ('ALUNO','PROFESSOR',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'FUNCIONARIO'))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4956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CHECK constraints garantem integridade de domínio: formato do CEP e tipo do usuário são validados pelo banco.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Criação das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Acervo (herança por especialização)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herança: ACERVO é a superclasse. LIVRO, PERIODICO e EBOOK herdam via FK que é também PK — cada especialização complementa os atributos da entidade pai.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4251960" cy="16916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544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ACERVO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id_acervo      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titulo          VARCHAR(150)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subtitulo       VARCHAR(150),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ano_publicacao 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idioma          VARCHAR(50),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descricao      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ck_acervo_ano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(ano_publicacao &gt;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251960" cy="16916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LIVRO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id_acervo     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isbn           VARCHAR(20)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numero_paginas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edicao        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fk_livro_acervo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ACERVO(id_acervo)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246120"/>
            <a:ext cx="4251960" cy="16916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31927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PERIODICO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id_acervo    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issn          VARCHAR(10)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       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numero_edicao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periodicidade VARCHAR(50),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fk_periodico_acervo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ACERVO(id_acervo)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251960" cy="16916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31927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EBOOK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id_acervo        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formato_arquivo   VARCHAR(20),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tamanho_arquivo_mb DECIMAL(6,2),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url_acesso       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licenca_digital   VARCHAR(50),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fk_ebook_acervo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ACERVO(id_acervo)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Criação das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Tombamento (EXEMPLAR + LOCALIZACAO_FISICA)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aplicamos diretamente a normalização: LOCALIZACAO_FISICA foi extraída de EXEMPLAR para eliminar a dependência transitiva id_tombo → id_localizacao → {endereco, andar, estante}.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4251960" cy="16459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81912"/>
            <a:ext cx="4069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LOCALIZACAO_FISICA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id_localizacao VARCHAR(50)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endereco       VARCHAR(50)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andar          INTEGER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CHECK (andar &gt;=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estante        VARCHAR(30)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251960" cy="338328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81912"/>
            <a:ext cx="40690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EXEMPLAR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id_tombo       VARCHAR(20)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tipo_aquisicao VARCHAR(30),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data_aquisicao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valor_compra   DECIMAL(10,2)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DEFAULT 0.00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CHECK (valor_compra &gt;=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   VARCHAR(20)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DEFAULT 'DISPONIVEL'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CHECK (status IN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'DISPONIVEL','EMPRESTADO',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'DANIFICADO','RESERVADO')),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conservacao    VARCHAR(30),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id_localizacao VARCHAR(50)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id_acervo  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fk_exemplar_localizacao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(id_localizacao)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LOCALIZACAO_FISICA,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fk_exemplar_acervo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ACERVO(id_acervo)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495604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Resultado da normalização em prática: LOCALIZACAO_FISICA é uma tabela separada, EXEMPLAR referencia via FK — 3FN e BCNF satisfeitas.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Criação das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Empréstimo, Reserva e Multa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4251960" cy="19202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4069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EMPRESTIMO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id_emprestimo   SERIAL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id_usuario  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id_tombo  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data_inicio   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data_retorno   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data_fim_previsto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fk_emp_usuario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(id_usuario)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USUARIO(id_usuario),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chk_status_emp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(status IN ('ativo','devolvido','atrasado'))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51960" cy="19202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16152"/>
            <a:ext cx="4069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RESERVA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id_reserva    SERIAL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id_usuario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id_tombo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data_reserva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data_validade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fk_res_usuario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(id_usuario)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USUARIO(id_usuario),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chk_status_res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(status IN ('ATIVA','FINALIZADA',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'CANCELADA'))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3154680"/>
            <a:ext cx="4251960" cy="182880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227832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MOTIVO_MULTA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id_motivo INTEGER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descricao VARCHAR(255)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4251960" cy="182880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227832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MULTA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id_multa      SERIAL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id_emprestimo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id_motivo 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         DECIMAL(10,2)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data_geracao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data_pagamento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dias_atraso   INTEGER,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fk_multa_emp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(id_emprestimo)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EMPRESTIMO(id_emprestimo),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fk_multa_motivo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(id_motivo)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MOTIVO_MULTA(id_motivo)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Inserção de Dados de Teste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Endereços, Usuários e Telefones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Inserimos 10 endereços, 10 usuários de tipos variados (ALUNO, PROFESSOR, FUNCIONARIO) e alguns telefones. Cada usuário referencia um endereço via FK.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8686800" cy="14173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81912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ENDERECO (cep, logradouro, numero, bairro, cidade)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('30140-010', 'Rua da Bahia', '1000', 'Centro', 'Belo Horizonte'),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('30535-000', 'Av. Dom José Gaspar', '500', 'Coração Eucarístico', 'Belo Horizonte'),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('31270-901', 'Av. Antônio Carlos', '6627', 'Pampulha', 'Belo Horizonte');  -- + 7 mais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999232"/>
            <a:ext cx="868680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3072384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USUARIO (primeiro_nome, sobrenome, cpf, email, data_nascimento, tipo_usuario, id_endereco)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('João Otávio', 'Gurgel',  '111.222.333-44', 'joao.gurgel@puc.br',  '2006-04-25', 'ALUNO',      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('Cristiano',  'Macedo',  '222.333.444-55', 'cristiano.macedo@puc.br', '1980-05-10', 'PROFESSOR', 1),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('Ricardo',    'Oliveira','444.555.666-77', 'ricardo.ol@puc.br',   '1975-08-20', 'FUNCIONARIO',4);  -- + 7 mais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4572000"/>
            <a:ext cx="8686800" cy="5029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TELEFONE_USUARIO (id_usuario, telefone)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 '(31) 98888-7777'), (1, '(31) 3333-2222'), (2, '(31) 97777-6666');  -- multivalorado resolvido com tabela própria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Inserção de Dados de Teste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Acervo, Exemplares, Empréstimos, Reservas e Multas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8686800" cy="91440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Acervo (superclasse) + especializações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ACERVO VALUES (1,'Dom Casmurro',NULL,1899,'Português','Romance clássico.');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LIVRO VALUES  (1,'978-85-333-0227-3',320,3);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PERIODICO VALUES (5,'1234-5678',12,45,'Mensal');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EBOOK VALUES (9,'PDF',12.50,'https://biblioteca.edu/ebooks/pg.pdf','Aberta');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130552"/>
            <a:ext cx="8686800" cy="804672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03704"/>
            <a:ext cx="8503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LOCALIZACAO_FISICA (id_localizacao, endereco, andar, estante)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('SALA101-A', 'Sala de Leitura - Ala A', 1, 'E1'),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('SALA101-B', 'Sala de Leitura - Ala B', 1, 'E3');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EXEMPLAR VALUES ('T2023001','Compra','2023-05-10',89.90,'DISPONIVEL','Bom','SALA101-A',1);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3008376"/>
            <a:ext cx="8686800" cy="804672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081528"/>
            <a:ext cx="8503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EMPRESTIMO (id_usuario, id_tombo, status, data_inicio, data_retorno, data_fim_previsto)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 'T2023002', 'ativo',      '2025-05-01', NULL,         '2025-05-15'),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(2, 'T2023003', 'devolvido',  '2025-04-10', '2025-04-20', '2025-04-25');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886200"/>
            <a:ext cx="8686800" cy="54864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9593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RESERVA (id_usuario, id_tombo, data_reserva, data_validade, status)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(3, 'T2023001', '2026-05-01', '2026-05-05', 'ATIVA');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4507992"/>
            <a:ext cx="8686800" cy="5029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458114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MOTIVO_MULTA VALUES (1,'Atraso na Devolução'),(2,'Dano ao Material'),(3,'Perda do Exemplar');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MULTA (id_emprestimo, id_motivo, valor, data_geracao, status) VALUES (2, 1, 15.00, '2025-04-21', 'PENDENTE');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— Q1 a Q4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Projeção, seleção, JOINs básicos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Usuários do tipo ALUNO (projeção + seleção)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3619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primeiro_nome, sobrenome, 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tipo_usuario = 'ALUNO';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Acervos em português publicados após 2020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3619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titulo, ano_publicacao, idioma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idioma = 'Português'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ano_publicacao &gt; 2020;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Livros com ISBN (INNER JOIN 2 tabelas)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4564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A.titulo, L.isbn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ACERVO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LIVRO 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A.id_acervo = L.id_acervo;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Usuário, título e status de empréstimos ativos (3 JOINs)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4564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U.primeiro_nome, A.titulo, E.status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EMPRESTIMO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USUARIO  U  ON E.id_usuario = U.id_usuario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EXEMPLAR EX ON E.id_tombo   = EX.id_tombo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ACERVO   A  ON EX.id_acervo = A.id_acervo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E.status = 'ativo';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— Q5 a Q8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Join, agregação, subquery e EXISTS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LEFT JOIN: todos os endereços + usuários vinculados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3619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E.logradouro, U.primeiro_nome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ENDERECO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USUARIO 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E.id_endereco = U.id_endereco;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Agrupamento: acervos por idioma (≥ 2 itens)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3619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idioma, COUNT(*) AS quantidade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idioma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2;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Subquery: títulos com exemplar acima da média de valor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4564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titulo FROM 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id_acervo IN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id_acervo FROM EXEMPLAR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valor_compra &gt;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AVG(valor_compra)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EXEMPLAR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EXISTS: usuários com pelo menos uma reserva ATIVA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4206240" cy="150876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4564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U.primeiro_nome, U.email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USUARIO 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1 FROM RESERVA 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R.id_usuario = U.id_usuario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R.status = 'ATIVA'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— Q9 e Q10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 consulta de negócio (ranking)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2286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43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VIEW: Perfil Completo do Usuário (Nome, Cidade, Tipo)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8686800" cy="132588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36192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 vw_perfil_usuario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u.id_usuario,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u.primeiro_nome,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e.cidade,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u.tipo_usuario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  USUARIO 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  ENDERECO e ON u.id_endereco = e.id_endereco;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vw_perfil_usuario;  -- uso da view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28803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Ranking de Materiais Mais Reservados por Título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200400"/>
            <a:ext cx="8686800" cy="1417320"/>
          </a:xfrm>
          <a:prstGeom prst="rect">
            <a:avLst/>
          </a:prstGeom>
          <a:solidFill>
            <a:srgbClr val="0A1520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273552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C8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A.titulo,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COUNT(R.id_reserva) AS total_reservas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ACERVO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  EXEMPLAR EX ON A.id_acervo  = EX.id_acervo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  RESERVA  R  ON EX.id_tombo  = R.id_tombo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A.titulo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total_reservas DESC;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4681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VIEW encapsula a lógica de JOIN e pode ser reutilizada em outras queries — boa prática para relatórios recorrentes.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49103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Q10 usa GROUP BY + ORDER BY para transformar dados transacionais em inteligência de negócio — quais títulos têm mais demanda.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D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de Banco de Dados — Biblioteca Universitária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5786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&amp; 4 — Análise Formal das Formas Normais + Implementação 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063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306324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063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06324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063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TOMBAMENTO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11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61188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611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3611880"/>
            <a:ext cx="16002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611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" y="416052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Dias · João Otávio · Tiago Glueck · Gustavo Yannes · Guilherme Marques · Junio Tiago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7160" y="443484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Elmasri &amp; Navathe — Sistemas de Banco de Dados, 7ª 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Normalização BD – Biblioteca Universitária</dc:title>
  <dc:subject>PptxGenJS Presentation</dc:subject>
  <dc:creator>PptxGenJS</dc:creator>
  <cp:lastModifiedBy>PptxGenJS</cp:lastModifiedBy>
  <cp:revision>1</cp:revision>
  <dcterms:created xsi:type="dcterms:W3CDTF">2026-05-19T19:51:31Z</dcterms:created>
  <dcterms:modified xsi:type="dcterms:W3CDTF">2026-05-19T19:51:31Z</dcterms:modified>
</cp:coreProperties>
</file>