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0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787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kern="0" spc="4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NORMALIZAÇÃO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Banco de Dados – </a:t>
            </a:r>
            <a:r>
              <a:rPr lang="en-US" sz="28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Biblioteca</a:t>
            </a: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Universitária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Análise Formal das Formas Normais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2011680" cy="384048"/>
          </a:xfrm>
          <a:prstGeom prst="rect">
            <a:avLst/>
          </a:prstGeom>
          <a:solidFill>
            <a:srgbClr val="06B6D4">
              <a:alpha val="8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80360" y="3017520"/>
            <a:ext cx="2011680" cy="384048"/>
          </a:xfrm>
          <a:prstGeom prst="rect">
            <a:avLst/>
          </a:prstGeom>
          <a:solidFill>
            <a:srgbClr val="06B6D4">
              <a:alpha val="8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6360" y="3017520"/>
            <a:ext cx="2011680" cy="384048"/>
          </a:xfrm>
          <a:prstGeom prst="rect">
            <a:avLst/>
          </a:prstGeom>
          <a:solidFill>
            <a:srgbClr val="06B6D4">
              <a:alpha val="8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/>
          <p:nvPr/>
        </p:nvSpPr>
        <p:spPr>
          <a:xfrm>
            <a:off x="516636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TOMBAMENTO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617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Matheus Dias, João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Otávio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Tiago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Glueck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Gustavo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Yannes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Guilherme Marques e Junio Tiago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Elmasri &amp; Navathe, Caps. 10–11, 7ª ed.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Tópicos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58368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005840"/>
            <a:ext cx="7223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Fundamentais de Normalização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82296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55648"/>
            <a:ext cx="658368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55648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755648"/>
            <a:ext cx="7223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RESERVA —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1FN, 2FN, 3FN, BCNF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499095"/>
            <a:ext cx="82296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05456"/>
            <a:ext cx="658368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658368" cy="615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505456"/>
            <a:ext cx="7223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MULTA —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1FN, 2FN, 3FN, BCNF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82296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55264"/>
            <a:ext cx="658368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55264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255264"/>
            <a:ext cx="7223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EXEMPLAR — Análise 1FN, 2FN, 3FN, BCNF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82296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05072"/>
            <a:ext cx="658368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05072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4005072"/>
            <a:ext cx="7223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&amp; Trade-offs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Conceitos Fundamentais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16916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82296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22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1FN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0698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Primeira Forma Normal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399032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atômicos, sem grupos repetitivos e sem atributos multivalorados. Cada célula contém um único valor indivisível.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3931920" cy="16916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960120"/>
            <a:ext cx="82296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960120"/>
            <a:ext cx="822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2FN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10698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Segunda Forma Normal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399032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em 1FN + nenhum atributo não-chave possui dependência parcial em relação a qualquer chave candidata.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3931920" cy="16916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82296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822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3FN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29900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Terceira Forma Normal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319272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em 2FN + sem dependências funcionais transitivas (não-chave → não-chave).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2880360"/>
            <a:ext cx="3931920" cy="16916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880360"/>
            <a:ext cx="82296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880360"/>
            <a:ext cx="822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BCNF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29900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 Normal de Boyce-Codd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3319272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toda DF X→Y, X deve ser superchave. Mais restrita que 3FN.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Normalização = eliminar redundância + garantir integridade, não apenas decompor tabelas.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RESERVA — Estrutura &amp; Dependências Funcionais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850392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Inicial (não normalizada)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ID_Reserva | Data_Reserva | Data_Validade | Status | ID_Usuario | Nome_Usuario | ID_Tombo | Nome_Exemplar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8503920" cy="640080"/>
          </a:xfrm>
          <a:prstGeom prst="rect">
            <a:avLst/>
          </a:prstGeom>
          <a:solidFill>
            <a:srgbClr val="3B0F0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Problema: Nome_Usuario depende de ID_Usuario, e Nome_Exemplar depende de ID_Tombo — dependências transitivas (ID_Reserva → ID_Usuario → Nome_Usuario)!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3063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Dependências Funcionais Identificadas: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474720"/>
            <a:ext cx="109728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74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ID_Reserva → Data_Reserva, Data_Validade, Status, ID_Usuario, ID_Tombo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[DF direta (PK)]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977640"/>
            <a:ext cx="109728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ID_Usuario → Nome_Usuario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[DF transitiva]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480560"/>
            <a:ext cx="109728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80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ID_Tombo → Nome_Exemplar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4480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[DF transitiva]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RESERVA — Análise das Formas Normais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02336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0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1FN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155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Satisfaz a 1FN 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48132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atributos são atômicos e indivisíveis. Não há grupos repetitivos nem atributos multivalorados. Existe uma chave primária simples (ID_Reserva).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640080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0584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2FN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1155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Satisfaz a 2FN 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48132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PK é simples (ID_Reserva). Com chave simples não é possível existir dependência parcial. Todos os atributos dependem totalmente de ID_Reserva.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02336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71800"/>
            <a:ext cx="640080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7180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3FN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0815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satisfaz a 3FN 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44728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dependências transitivas: ID_Reserva → ID_Usuario → Nome_Usuario e ID_Reserva → ID_Tombo → Nome_Exemplar. Atributos não-chave determinam outros atributos não-chave.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402336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71800"/>
            <a:ext cx="640080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7180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BCNF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30815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satisfaz a BCNF 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44728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DFs ID_Usuario → Nome_Usuario e ID_Tombo → Nome_Exemplar têm determinantes que não são superchaves de RESERVA. Após decomposição em 3 tabelas, 3FN e BCNF são satisfeitas.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RESERVA — Esquema Normalizado Resultante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743200" cy="1170432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274320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ID_Usuario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3898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Nome_Usuario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743200" cy="117043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0584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389888"/>
            <a:ext cx="274320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389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ID_Tombo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13898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1737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Nome_Exemplar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25603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1389888"/>
            <a:ext cx="274320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389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ID_Reserva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13898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Data_Reserva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084832"/>
            <a:ext cx="274320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0848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Data_Validade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4323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779776"/>
            <a:ext cx="274320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7797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ID_Usuario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277977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1272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ID_Tombo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312724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37360" y="1618488"/>
            <a:ext cx="155448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663440" y="1618488"/>
            <a:ext cx="14630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tabela contém apenas atributos que dependem diretamente da chave primária, eliminando as dependências transitivas.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MULTA — Estrutura &amp; Dependências Funcionais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393192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3931920" cy="38404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93192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93192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id_multa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4173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7647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17647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DECIMAL(10,2)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12264"/>
            <a:ext cx="393192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122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data_geracao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21122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4597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data_pagamento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24597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07208"/>
            <a:ext cx="393192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072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dias_atraso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48840" y="28072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1546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48840" y="3154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502152"/>
            <a:ext cx="393192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021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id_emprestimo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48840" y="35021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350215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8496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id_motivo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48840" y="38496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384962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34840" y="1005840"/>
            <a:ext cx="438912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1005840"/>
            <a:ext cx="43891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10058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Dependências Funcionais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0" y="15087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id_multa → valor, data_geracao,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data_pagamento, dias_atraso,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status, id_emprestimo, id_motivo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Obs.: id_emprestimo e id_motivo são chaves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estrangeiras. Os atributos dessas entidades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residem em suas próprias tabelas normalizadas.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MULTA — Análise das Formas Normais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02336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0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1FN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155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Satisfaz a 1FN 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atributos são atômicos (valores indivisíveis). Não há grupos repetitivos nem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multivalorados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Existe uma chave primária simples (id_multa).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640080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0584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2FN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1155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Satisfaz a 2FN 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46304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primária é simples (id_multa), portanto não há como existir dependência parcial. Todos os atributos dependem totalmente de id_multa.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02336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71800"/>
            <a:ext cx="640080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7180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3FN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0815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Satisfaz a 3FN 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4290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existem atributos não-chave dependendo de outros atributos não-chave dentro da própria relação MULTA. id_emprestimo e id_motivo são FKs cujos atributos residem em tabelas próprias.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402336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71800"/>
            <a:ext cx="640080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7180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BCNF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30815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Satisfaz a BCNF 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4290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toda DF identificada, o lado esquerdo é superchave (id_multa). Não há DF onde a determinante não seja superchave. A tabela está em BCNF.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EXEMPLAR — Estrutura &amp; Dependências Funcionais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023360" cy="2843784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023360" cy="3383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id_tombo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1371600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749040" y="1371600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709928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tipo_aquisicao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0" y="1709928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48256"/>
            <a:ext cx="4023360" cy="3383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4825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data_aquisicao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2048256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386584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valor_compra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2386584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DECIMAL(10,2)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4023360" cy="3383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24912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68880" y="2724912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06324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conservacao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68880" y="3063240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401568"/>
            <a:ext cx="4023360" cy="3383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401568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id_localizacao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68880" y="3401568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49040" y="3401568"/>
            <a:ext cx="502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960120"/>
            <a:ext cx="425196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960120"/>
            <a:ext cx="425196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96012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LOCALIZACAO_FISICA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1371600"/>
            <a:ext cx="4251960" cy="3383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371600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id_localizacao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86600" y="1371600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21040" y="1371600"/>
            <a:ext cx="457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1709928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endereco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86600" y="1709928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2048256"/>
            <a:ext cx="4251960" cy="33832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048256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andar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086600" y="2048256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2386584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estante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086600" y="2386584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97680" y="1618488"/>
            <a:ext cx="274320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74320" y="3977640"/>
            <a:ext cx="854964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977640"/>
            <a:ext cx="155448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977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920240" y="4041648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DF1: id_tombo → tipo_aquisicao, data_aquisicao, valor_compra, status, conservacao, id_localizacao
</a:t>
            </a: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DF2: id_localizacao → endereco, andar, estante  </a:t>
            </a: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[dependência transitiva]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EXEMPLAR — Análise das Formas Normais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02336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0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1FN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155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Satisfaz a 1FN 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48132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atributos são atômicos e indivisíveis. Não há grupos repetitivos nem atributos multi-valorados. PK simples definida (id_tombo).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640080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0584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2FN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1155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Satisfaz a 2FN 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48132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PK é simples (id_tombo), portanto não há como existir dependência parcial. Todos os atributos de EXEMPLAR dependem totalmente de id_tombo.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02336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71800"/>
            <a:ext cx="64008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7180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3FN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0815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satisfaz a 3FN 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44728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dependência transitiva: id_tombo → id_localizacao → {endereco, andar, estante}. Atributos de localização dependem de id_localizacao (não-chave), não de id_tombo diretamente.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402336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71800"/>
            <a:ext cx="64008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7180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BCNF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30815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satisfaz a BCNF 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44728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DF id_localizacao → {endereco, andar, estante} tem como determinante id_localizacao, que NÃO é superchave de EXEMPLAR. Viola a BCNF. Solução: separar LOCALIZACAO_FISICA em tabela própria (já feita no esquema).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em EXEMPLAR + LOCALIZACAO_FISICA elimina a transitividade e satisfaz 3FN e BCNF.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Resumo Comparativo — Situação das Formas Normais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451401"/>
              </p:ext>
            </p:extLst>
          </p:nvPr>
        </p:nvGraphicFramePr>
        <p:xfrm>
          <a:off x="457200" y="1005840"/>
          <a:ext cx="8229600" cy="285292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3FN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BCNF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 (inicial)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 (normalizada)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EXEMPLAR (inicial)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EXEMPLAR + LOCALIZAÇÃO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inicial falha na 3FN e BCNF por conter dependências transitivas (não dependências parciais — a PK é simples).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 inicial viola 3FN/BCNF pela dependência transitiva via id_localizacao. Após decomposições, todas as FNs são satisfeitas.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Conclusão &amp; Trade-offs de Normalização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81381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02336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94360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115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Redundância eliminada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8132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decomposições garantem que cada fato seja armazenado uma única vez, evitando anomalias de inserção, atualização e deleção.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59436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0584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115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Trade-off: Performance vs Integridade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48132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pode exigir mais JOINs. Em casos de alta carga de leitura, pode-se aceitar desnormalização controlada com justificativa formal.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02336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594360" cy="1737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2608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035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Integridade referencial mantida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40156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 (id_emprestimo, id_usuario, id_tombo, id_localizacao) garantem consistência entre tabelas após as decomposições.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2336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26080"/>
            <a:ext cx="594360" cy="1737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2608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3035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Normalização ≠ apenas decompor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340156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central é compreender as dependências funcionais e tomar decisões baseadas na semântica dos dados.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Elmasri &amp; Navathe — Sistemas de Banco de Dados, 7ª ed., Caps. 10–11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1338</Words>
  <Application>Microsoft Office PowerPoint</Application>
  <PresentationFormat>Apresentação na tela (16:9)</PresentationFormat>
  <Paragraphs>223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Normalização de Banco de Dados</dc:title>
  <dc:subject>PptxGenJS Presentation</dc:subject>
  <dc:creator>PptxGenJS</dc:creator>
  <cp:lastModifiedBy>matheus dias</cp:lastModifiedBy>
  <cp:revision>4</cp:revision>
  <dcterms:created xsi:type="dcterms:W3CDTF">2026-05-16T21:04:34Z</dcterms:created>
  <dcterms:modified xsi:type="dcterms:W3CDTF">2026-05-16T21:23:50Z</dcterms:modified>
</cp:coreProperties>
</file>