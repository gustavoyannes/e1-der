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7132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06348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96025607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8346282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862740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29400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408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76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Slide de abertura. Apresentar a equipe e o nome do projeto. Banco de gestão de biblioteca universitária implementado em PostgreSQL.</a:t>
            </a:r>
            <a:endParaRPr lang="en-US"/>
          </a:p>
        </p:txBody>
      </p:sp>
      <p:sp>
        <p:nvSpPr>
          <p:cNvPr id="820185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6966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0349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2 min. Por que este domínio: é um cenário real e conhecido por todos, rico em relacionamentos (1:N, N:N), especialização e regras de integridade. O banco resolve o controle de acervo, empréstimos, reservas e multas — algo que em planilha gera dado duplicado e inconsistente.</a:t>
            </a:r>
            <a:endParaRPr lang="en-US"/>
          </a:p>
        </p:txBody>
      </p:sp>
      <p:sp>
        <p:nvSpPr>
          <p:cNvPr id="1737919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350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681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 min. Mostrar o DER (abrir a imagem do DER se disponível). Falar dos quatro módulos. A decisão mais difícil foi a especialização do acervo (PK=FK, total/disjunta) e separar obra de exemplar. Mencionar o multivalorado de telefone. Citar normalização até 3FN.</a:t>
            </a:r>
            <a:endParaRPr lang="en-US"/>
          </a:p>
        </p:txBody>
      </p:sp>
      <p:sp>
        <p:nvSpPr>
          <p:cNvPr id="407219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623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202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4 min. Demonstração ao vivo. Abrir o psql ou pgAdmin. 1) rodar etapa5.sql inteiro mostrando que recria limpo. 2) Mostrar \dt das tabelas. 3) Executar Q1 a Q10 explicando o objetivo de negócio de cada uma. Destacar a Q8 (EXISTS) e a view na Q9. Ter o banco já conectado antes de começar para não perder tempo.</a:t>
            </a:r>
            <a:endParaRPr lang="en-US"/>
          </a:p>
        </p:txBody>
      </p:sp>
      <p:sp>
        <p:nvSpPr>
          <p:cNvPr id="898504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440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690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 min. O professor ou a turma lança uma pergunta de negócio não preparada. Estratégia: ler em voz alta, mapear para tabelas, definir JOINs e filtros, escrever e rodar. Manter a calma e pensar em voz alta. Estes exemplos são só aquecimento do tipo de pergunta esperada.</a:t>
            </a:r>
            <a:endParaRPr lang="en-US"/>
          </a:p>
        </p:txBody>
      </p:sp>
      <p:sp>
        <p:nvSpPr>
          <p:cNvPr id="890160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4136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52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Fechamento. Reforçar a ponte teoria-prática e os números do projeto. Abrir para perguntas. Agradecer.</a:t>
            </a:r>
            <a:endParaRPr lang="en-US"/>
          </a:p>
        </p:txBody>
      </p:sp>
      <p:sp>
        <p:nvSpPr>
          <p:cNvPr id="1996677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2A4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825541" name="Shape 0"/>
          <p:cNvSpPr/>
          <p:nvPr/>
        </p:nvSpPr>
        <p:spPr bwMode="auto">
          <a:xfrm>
            <a:off x="8778240" y="-2011680"/>
            <a:ext cx="5943600" cy="5943600"/>
          </a:xfrm>
          <a:prstGeom prst="ellipse">
            <a:avLst/>
          </a:prstGeom>
          <a:solidFill>
            <a:srgbClr val="143B5C"/>
          </a:solidFill>
          <a:ln/>
        </p:spPr>
      </p:sp>
      <p:sp>
        <p:nvSpPr>
          <p:cNvPr id="1088640217" name="Shape 1"/>
          <p:cNvSpPr/>
          <p:nvPr/>
        </p:nvSpPr>
        <p:spPr bwMode="auto">
          <a:xfrm>
            <a:off x="10332720" y="329184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pic>
        <p:nvPicPr>
          <p:cNvPr id="119962163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" y="777240"/>
            <a:ext cx="685800" cy="685800"/>
          </a:xfrm>
          <a:prstGeom prst="rect">
            <a:avLst/>
          </a:prstGeom>
        </p:spPr>
      </p:pic>
      <p:sp>
        <p:nvSpPr>
          <p:cNvPr id="205400445" name="Text 2"/>
          <p:cNvSpPr/>
          <p:nvPr/>
        </p:nvSpPr>
        <p:spPr bwMode="auto">
          <a:xfrm>
            <a:off x="1691640" y="8412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 spc="3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BANCO DE DADOS · 2026/1</a:t>
            </a:r>
            <a:endParaRPr lang="en-US" sz="1400"/>
          </a:p>
        </p:txBody>
      </p:sp>
      <p:sp>
        <p:nvSpPr>
          <p:cNvPr id="2129495058" name="Text 3"/>
          <p:cNvSpPr/>
          <p:nvPr/>
        </p:nvSpPr>
        <p:spPr bwMode="auto">
          <a:xfrm>
            <a:off x="822960" y="18288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  <a:defRPr/>
            </a:pPr>
            <a:r>
              <a:rPr lang="en-US" sz="5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Sistema de Gestão de</a:t>
            </a:r>
            <a:endParaRPr lang="en-US" sz="5000"/>
          </a:p>
          <a:p>
            <a:pPr marL="0" indent="0">
              <a:lnSpc>
                <a:spcPct val="102000"/>
              </a:lnSpc>
              <a:buNone/>
              <a:defRPr/>
            </a:pPr>
            <a:r>
              <a:rPr lang="en-US" sz="5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Biblioteca Universitária</a:t>
            </a:r>
            <a:endParaRPr lang="en-US" sz="5000"/>
          </a:p>
        </p:txBody>
      </p:sp>
      <p:sp>
        <p:nvSpPr>
          <p:cNvPr id="1694177119" name="Text 4"/>
          <p:cNvSpPr/>
          <p:nvPr/>
        </p:nvSpPr>
        <p:spPr bwMode="auto">
          <a:xfrm>
            <a:off x="868680" y="38862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Banco relacional normalizado em PostgreSQL — modelagem, integridade e consultas de negócio</a:t>
            </a:r>
            <a:endParaRPr lang="en-US" sz="1800"/>
          </a:p>
        </p:txBody>
      </p:sp>
      <p:sp>
        <p:nvSpPr>
          <p:cNvPr id="719189153" name="Shape 5"/>
          <p:cNvSpPr/>
          <p:nvPr/>
        </p:nvSpPr>
        <p:spPr bwMode="auto">
          <a:xfrm>
            <a:off x="868680" y="4983480"/>
            <a:ext cx="1042416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461479700" name="Text 6"/>
          <p:cNvSpPr/>
          <p:nvPr/>
        </p:nvSpPr>
        <p:spPr bwMode="auto">
          <a:xfrm>
            <a:off x="8686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PUC Minas · ICEI</a:t>
            </a:r>
            <a:r>
              <a:rPr lang="en-US" sz="140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    Engenharia de Software — 2º Período</a:t>
            </a:r>
            <a:endParaRPr lang="en-US" sz="1400"/>
          </a:p>
        </p:txBody>
      </p:sp>
      <p:sp>
        <p:nvSpPr>
          <p:cNvPr id="1353787148" name="Text 7"/>
          <p:cNvSpPr/>
          <p:nvPr/>
        </p:nvSpPr>
        <p:spPr bwMode="auto">
          <a:xfrm>
            <a:off x="86868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Prof. Cristiano de Macedo Neto   ·   Etapa 5 — Mostra de Projetos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998094" name="Text 0"/>
          <p:cNvSpPr/>
          <p:nvPr/>
        </p:nvSpPr>
        <p:spPr bwMode="auto">
          <a:xfrm>
            <a:off x="640080" y="411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O domínio: </a:t>
            </a:r>
            <a:r>
              <a:rPr lang="en-US" sz="3200" b="1" i="0" u="none" strike="noStrike" cap="none" spc="0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Biblioteca Universitária</a:t>
            </a:r>
            <a:endParaRPr lang="en-US" sz="3200"/>
          </a:p>
        </p:txBody>
      </p:sp>
      <p:sp>
        <p:nvSpPr>
          <p:cNvPr id="11333756" name="Text 3"/>
          <p:cNvSpPr/>
          <p:nvPr/>
        </p:nvSpPr>
        <p:spPr bwMode="auto">
          <a:xfrm>
            <a:off x="658368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 problema de negócio que o banco resolve</a:t>
            </a:r>
            <a:endParaRPr lang="en-US" sz="1500"/>
          </a:p>
        </p:txBody>
      </p:sp>
      <p:sp>
        <p:nvSpPr>
          <p:cNvPr id="1573182171" name="Shape 4"/>
          <p:cNvSpPr/>
          <p:nvPr/>
        </p:nvSpPr>
        <p:spPr bwMode="auto">
          <a:xfrm>
            <a:off x="64008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F2A43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pic>
        <p:nvPicPr>
          <p:cNvPr id="103172144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0120" y="2011680"/>
            <a:ext cx="548640" cy="548640"/>
          </a:xfrm>
          <a:prstGeom prst="rect">
            <a:avLst/>
          </a:prstGeom>
        </p:spPr>
      </p:pic>
      <p:sp>
        <p:nvSpPr>
          <p:cNvPr id="1373149521" name="Text 5"/>
          <p:cNvSpPr/>
          <p:nvPr/>
        </p:nvSpPr>
        <p:spPr bwMode="auto">
          <a:xfrm>
            <a:off x="1645920" y="20299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 problema</a:t>
            </a:r>
            <a:endParaRPr lang="en-US" sz="2000"/>
          </a:p>
        </p:txBody>
      </p:sp>
      <p:sp>
        <p:nvSpPr>
          <p:cNvPr id="979393131" name="Text 6"/>
          <p:cNvSpPr/>
          <p:nvPr/>
        </p:nvSpPr>
        <p:spPr bwMode="auto">
          <a:xfrm>
            <a:off x="960120" y="27432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5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Uma biblioteca universitária precisa controlar </a:t>
            </a:r>
            <a:r>
              <a:rPr lang="en-US" sz="15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quem</a:t>
            </a:r>
            <a:r>
              <a:rPr lang="en-US" sz="15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 pegou </a:t>
            </a:r>
            <a:r>
              <a:rPr lang="en-US" sz="15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qual exemplar</a:t>
            </a:r>
            <a:r>
              <a:rPr lang="en-US" sz="15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, até quando, o que está reservado e quais multas estão em aberto.</a:t>
            </a:r>
            <a:endParaRPr lang="en-US" sz="1550"/>
          </a:p>
        </p:txBody>
      </p:sp>
      <p:sp>
        <p:nvSpPr>
          <p:cNvPr id="1160366518" name="Text 7"/>
          <p:cNvSpPr/>
          <p:nvPr/>
        </p:nvSpPr>
        <p:spPr bwMode="auto">
          <a:xfrm>
            <a:off x="960120" y="429768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5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Em planilhas isso vira dado duplicado, inconsistente e sem rastreio. Um banco relacional garante integridade e respostas confiáveis.</a:t>
            </a:r>
            <a:endParaRPr lang="en-US" sz="1550"/>
          </a:p>
        </p:txBody>
      </p:sp>
      <p:sp>
        <p:nvSpPr>
          <p:cNvPr id="1661526908" name="Shape 8"/>
          <p:cNvSpPr/>
          <p:nvPr/>
        </p:nvSpPr>
        <p:spPr bwMode="auto">
          <a:xfrm>
            <a:off x="6080760" y="1691640"/>
            <a:ext cx="5486400" cy="1024128"/>
          </a:xfrm>
          <a:prstGeom prst="roundRect">
            <a:avLst>
              <a:gd name="adj" fmla="val 8929"/>
            </a:avLst>
          </a:prstGeom>
          <a:solidFill>
            <a:srgbClr val="F2F7FA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1814463275" name="Shape 9"/>
          <p:cNvSpPr/>
          <p:nvPr/>
        </p:nvSpPr>
        <p:spPr bwMode="auto">
          <a:xfrm>
            <a:off x="6355080" y="1947671"/>
            <a:ext cx="530352" cy="530352"/>
          </a:xfrm>
          <a:prstGeom prst="ellipse">
            <a:avLst/>
          </a:prstGeom>
          <a:solidFill>
            <a:srgbClr val="E4EFF4"/>
          </a:solidFill>
          <a:ln/>
        </p:spPr>
      </p:sp>
      <p:pic>
        <p:nvPicPr>
          <p:cNvPr id="82129470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55664" y="2048256"/>
            <a:ext cx="329184" cy="329184"/>
          </a:xfrm>
          <a:prstGeom prst="rect">
            <a:avLst/>
          </a:prstGeom>
        </p:spPr>
      </p:pic>
      <p:sp>
        <p:nvSpPr>
          <p:cNvPr id="334044155" name="Text 10"/>
          <p:cNvSpPr/>
          <p:nvPr/>
        </p:nvSpPr>
        <p:spPr bwMode="auto">
          <a:xfrm>
            <a:off x="7086600" y="1837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Cadastro de usuários</a:t>
            </a:r>
            <a:endParaRPr lang="en-US" sz="1650"/>
          </a:p>
        </p:txBody>
      </p:sp>
      <p:sp>
        <p:nvSpPr>
          <p:cNvPr id="639682493" name="Text 11"/>
          <p:cNvSpPr/>
          <p:nvPr/>
        </p:nvSpPr>
        <p:spPr bwMode="auto">
          <a:xfrm>
            <a:off x="7086600" y="22037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Alunos, professores e funcionários, com endereço e contatos.</a:t>
            </a:r>
            <a:endParaRPr lang="en-US" sz="1250"/>
          </a:p>
        </p:txBody>
      </p:sp>
      <p:sp>
        <p:nvSpPr>
          <p:cNvPr id="1896431804" name="Shape 12"/>
          <p:cNvSpPr/>
          <p:nvPr/>
        </p:nvSpPr>
        <p:spPr bwMode="auto">
          <a:xfrm>
            <a:off x="6080760" y="2843784"/>
            <a:ext cx="5486400" cy="1024128"/>
          </a:xfrm>
          <a:prstGeom prst="roundRect">
            <a:avLst>
              <a:gd name="adj" fmla="val 8929"/>
            </a:avLst>
          </a:prstGeom>
          <a:solidFill>
            <a:srgbClr val="F2F7FA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2012812598" name="Shape 13"/>
          <p:cNvSpPr/>
          <p:nvPr/>
        </p:nvSpPr>
        <p:spPr bwMode="auto">
          <a:xfrm>
            <a:off x="6355080" y="3099816"/>
            <a:ext cx="530352" cy="530352"/>
          </a:xfrm>
          <a:prstGeom prst="ellipse">
            <a:avLst/>
          </a:prstGeom>
          <a:solidFill>
            <a:srgbClr val="E4EFF4"/>
          </a:solidFill>
          <a:ln/>
        </p:spPr>
      </p:sp>
      <p:pic>
        <p:nvPicPr>
          <p:cNvPr id="68724953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55664" y="3200400"/>
            <a:ext cx="329184" cy="329184"/>
          </a:xfrm>
          <a:prstGeom prst="rect">
            <a:avLst/>
          </a:prstGeom>
        </p:spPr>
      </p:pic>
      <p:sp>
        <p:nvSpPr>
          <p:cNvPr id="317003873" name="Text 14"/>
          <p:cNvSpPr/>
          <p:nvPr/>
        </p:nvSpPr>
        <p:spPr bwMode="auto">
          <a:xfrm>
            <a:off x="7086600" y="2990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Empréstimos e devoluções</a:t>
            </a:r>
            <a:endParaRPr lang="en-US" sz="1650"/>
          </a:p>
        </p:txBody>
      </p:sp>
      <p:sp>
        <p:nvSpPr>
          <p:cNvPr id="772465030" name="Text 15"/>
          <p:cNvSpPr/>
          <p:nvPr/>
        </p:nvSpPr>
        <p:spPr bwMode="auto">
          <a:xfrm>
            <a:off x="7086600" y="33558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Controle por exemplar físico, com prazo e status.</a:t>
            </a:r>
            <a:endParaRPr lang="en-US" sz="1250"/>
          </a:p>
        </p:txBody>
      </p:sp>
      <p:sp>
        <p:nvSpPr>
          <p:cNvPr id="1527065844" name="Shape 16"/>
          <p:cNvSpPr/>
          <p:nvPr/>
        </p:nvSpPr>
        <p:spPr bwMode="auto">
          <a:xfrm>
            <a:off x="6080760" y="3995928"/>
            <a:ext cx="5486400" cy="1024128"/>
          </a:xfrm>
          <a:prstGeom prst="roundRect">
            <a:avLst>
              <a:gd name="adj" fmla="val 8929"/>
            </a:avLst>
          </a:prstGeom>
          <a:solidFill>
            <a:srgbClr val="F2F7FA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825334820" name="Shape 17"/>
          <p:cNvSpPr/>
          <p:nvPr/>
        </p:nvSpPr>
        <p:spPr bwMode="auto">
          <a:xfrm>
            <a:off x="6355080" y="4251960"/>
            <a:ext cx="530352" cy="530352"/>
          </a:xfrm>
          <a:prstGeom prst="ellipse">
            <a:avLst/>
          </a:prstGeom>
          <a:solidFill>
            <a:srgbClr val="E4EFF4"/>
          </a:solidFill>
          <a:ln/>
        </p:spPr>
      </p:sp>
      <p:pic>
        <p:nvPicPr>
          <p:cNvPr id="137932523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55664" y="4352544"/>
            <a:ext cx="329184" cy="329184"/>
          </a:xfrm>
          <a:prstGeom prst="rect">
            <a:avLst/>
          </a:prstGeom>
        </p:spPr>
      </p:pic>
      <p:sp>
        <p:nvSpPr>
          <p:cNvPr id="1902527953" name="Text 18"/>
          <p:cNvSpPr/>
          <p:nvPr/>
        </p:nvSpPr>
        <p:spPr bwMode="auto">
          <a:xfrm>
            <a:off x="7086600" y="4142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Reservas e fila de espera</a:t>
            </a:r>
            <a:endParaRPr lang="en-US" sz="1650"/>
          </a:p>
        </p:txBody>
      </p:sp>
      <p:sp>
        <p:nvSpPr>
          <p:cNvPr id="1607870326" name="Text 19"/>
          <p:cNvSpPr/>
          <p:nvPr/>
        </p:nvSpPr>
        <p:spPr bwMode="auto">
          <a:xfrm>
            <a:off x="7086600" y="4507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Demanda registrada quando o material está indisponível.</a:t>
            </a:r>
            <a:endParaRPr lang="en-US" sz="1250"/>
          </a:p>
        </p:txBody>
      </p:sp>
      <p:sp>
        <p:nvSpPr>
          <p:cNvPr id="120204613" name="Shape 20"/>
          <p:cNvSpPr/>
          <p:nvPr/>
        </p:nvSpPr>
        <p:spPr bwMode="auto">
          <a:xfrm>
            <a:off x="6080760" y="5148072"/>
            <a:ext cx="5486400" cy="1024128"/>
          </a:xfrm>
          <a:prstGeom prst="roundRect">
            <a:avLst>
              <a:gd name="adj" fmla="val 8929"/>
            </a:avLst>
          </a:prstGeom>
          <a:solidFill>
            <a:srgbClr val="F2F7FA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965451530" name="Shape 21"/>
          <p:cNvSpPr/>
          <p:nvPr/>
        </p:nvSpPr>
        <p:spPr bwMode="auto">
          <a:xfrm>
            <a:off x="6355080" y="5404104"/>
            <a:ext cx="530352" cy="530352"/>
          </a:xfrm>
          <a:prstGeom prst="ellipse">
            <a:avLst/>
          </a:prstGeom>
          <a:solidFill>
            <a:srgbClr val="E4EFF4"/>
          </a:solidFill>
          <a:ln/>
        </p:spPr>
      </p:sp>
      <p:pic>
        <p:nvPicPr>
          <p:cNvPr id="852687553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55664" y="5504687"/>
            <a:ext cx="329184" cy="329184"/>
          </a:xfrm>
          <a:prstGeom prst="rect">
            <a:avLst/>
          </a:prstGeom>
        </p:spPr>
      </p:pic>
      <p:sp>
        <p:nvSpPr>
          <p:cNvPr id="489256518" name="Text 22"/>
          <p:cNvSpPr/>
          <p:nvPr/>
        </p:nvSpPr>
        <p:spPr bwMode="auto">
          <a:xfrm>
            <a:off x="7086600" y="5294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Multas e disponibilidade</a:t>
            </a:r>
            <a:endParaRPr lang="en-US" sz="1650"/>
          </a:p>
        </p:txBody>
      </p:sp>
      <p:sp>
        <p:nvSpPr>
          <p:cNvPr id="804623901" name="Text 23"/>
          <p:cNvSpPr/>
          <p:nvPr/>
        </p:nvSpPr>
        <p:spPr bwMode="auto">
          <a:xfrm>
            <a:off x="7086600" y="56601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Pendências financeiras e visão do acervo em tempo real.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183468" name="Text 0"/>
          <p:cNvSpPr/>
          <p:nvPr/>
        </p:nvSpPr>
        <p:spPr bwMode="auto">
          <a:xfrm>
            <a:off x="640080" y="411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DER e decisões de modelagem</a:t>
            </a:r>
            <a:endParaRPr lang="en-US" sz="3200"/>
          </a:p>
        </p:txBody>
      </p:sp>
      <p:sp>
        <p:nvSpPr>
          <p:cNvPr id="1568771653" name="Text 3"/>
          <p:cNvSpPr/>
          <p:nvPr/>
        </p:nvSpPr>
        <p:spPr bwMode="auto">
          <a:xfrm>
            <a:off x="658368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Quatro módulos, 13 tabelas, normalizado até a 3ª Forma Normal</a:t>
            </a:r>
            <a:endParaRPr lang="en-US" sz="1500"/>
          </a:p>
        </p:txBody>
      </p:sp>
      <p:sp>
        <p:nvSpPr>
          <p:cNvPr id="1758573847" name="Text 4"/>
          <p:cNvSpPr/>
          <p:nvPr/>
        </p:nvSpPr>
        <p:spPr bwMode="auto">
          <a:xfrm>
            <a:off x="640080" y="1399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MÓDULOS DO ESQUEMA</a:t>
            </a:r>
            <a:endParaRPr lang="en-US" sz="1200"/>
          </a:p>
        </p:txBody>
      </p:sp>
      <p:sp>
        <p:nvSpPr>
          <p:cNvPr id="183763057" name="Shape 5"/>
          <p:cNvSpPr/>
          <p:nvPr/>
        </p:nvSpPr>
        <p:spPr bwMode="auto">
          <a:xfrm>
            <a:off x="640080" y="178308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pic>
        <p:nvPicPr>
          <p:cNvPr id="172657607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2066544"/>
            <a:ext cx="365760" cy="365760"/>
          </a:xfrm>
          <a:prstGeom prst="rect">
            <a:avLst/>
          </a:prstGeom>
        </p:spPr>
      </p:pic>
      <p:sp>
        <p:nvSpPr>
          <p:cNvPr id="1246735838" name="Text 6"/>
          <p:cNvSpPr/>
          <p:nvPr/>
        </p:nvSpPr>
        <p:spPr bwMode="auto">
          <a:xfrm>
            <a:off x="1463040" y="1892808"/>
            <a:ext cx="4160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Usuário &amp; Endereço</a:t>
            </a:r>
            <a:endParaRPr lang="en-US" sz="1600"/>
          </a:p>
        </p:txBody>
      </p:sp>
      <p:sp>
        <p:nvSpPr>
          <p:cNvPr id="292097192" name="Text 7"/>
          <p:cNvSpPr/>
          <p:nvPr/>
        </p:nvSpPr>
        <p:spPr bwMode="auto">
          <a:xfrm>
            <a:off x="1463040" y="2267712"/>
            <a:ext cx="4160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ENDERECO · USUARIO · TELEFONE_USUARIO</a:t>
            </a:r>
            <a:endParaRPr lang="en-US" sz="1100"/>
          </a:p>
        </p:txBody>
      </p:sp>
      <p:sp>
        <p:nvSpPr>
          <p:cNvPr id="1209531359" name="Shape 8"/>
          <p:cNvSpPr/>
          <p:nvPr/>
        </p:nvSpPr>
        <p:spPr bwMode="auto">
          <a:xfrm>
            <a:off x="640080" y="2816352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pic>
        <p:nvPicPr>
          <p:cNvPr id="150030907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14400" y="3099816"/>
            <a:ext cx="365760" cy="365760"/>
          </a:xfrm>
          <a:prstGeom prst="rect">
            <a:avLst/>
          </a:prstGeom>
        </p:spPr>
      </p:pic>
      <p:sp>
        <p:nvSpPr>
          <p:cNvPr id="144975279" name="Text 9"/>
          <p:cNvSpPr/>
          <p:nvPr/>
        </p:nvSpPr>
        <p:spPr bwMode="auto">
          <a:xfrm>
            <a:off x="1463040" y="2926080"/>
            <a:ext cx="4160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Acervo (especialização)</a:t>
            </a:r>
            <a:endParaRPr lang="en-US" sz="1600"/>
          </a:p>
        </p:txBody>
      </p:sp>
      <p:sp>
        <p:nvSpPr>
          <p:cNvPr id="420894442" name="Text 10"/>
          <p:cNvSpPr/>
          <p:nvPr/>
        </p:nvSpPr>
        <p:spPr bwMode="auto">
          <a:xfrm>
            <a:off x="1463040" y="3300984"/>
            <a:ext cx="4160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ACERVO → LIVRO · PERIODICO · EBOOK</a:t>
            </a:r>
            <a:endParaRPr lang="en-US" sz="1100"/>
          </a:p>
        </p:txBody>
      </p:sp>
      <p:sp>
        <p:nvSpPr>
          <p:cNvPr id="1132928988" name="Shape 11"/>
          <p:cNvSpPr/>
          <p:nvPr/>
        </p:nvSpPr>
        <p:spPr bwMode="auto">
          <a:xfrm>
            <a:off x="640080" y="3849624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pic>
        <p:nvPicPr>
          <p:cNvPr id="151156552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14400" y="4133088"/>
            <a:ext cx="365760" cy="365760"/>
          </a:xfrm>
          <a:prstGeom prst="rect">
            <a:avLst/>
          </a:prstGeom>
        </p:spPr>
      </p:pic>
      <p:sp>
        <p:nvSpPr>
          <p:cNvPr id="35309681" name="Text 12"/>
          <p:cNvSpPr/>
          <p:nvPr/>
        </p:nvSpPr>
        <p:spPr bwMode="auto">
          <a:xfrm>
            <a:off x="1463040" y="3959352"/>
            <a:ext cx="4160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Tombamento</a:t>
            </a:r>
            <a:endParaRPr lang="en-US" sz="1600"/>
          </a:p>
        </p:txBody>
      </p:sp>
      <p:sp>
        <p:nvSpPr>
          <p:cNvPr id="1702552844" name="Text 13"/>
          <p:cNvSpPr/>
          <p:nvPr/>
        </p:nvSpPr>
        <p:spPr bwMode="auto">
          <a:xfrm>
            <a:off x="1463040" y="4334256"/>
            <a:ext cx="4160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LOCALIZACAO_FISICA · EXEMPLAR</a:t>
            </a:r>
            <a:endParaRPr lang="en-US" sz="1100"/>
          </a:p>
        </p:txBody>
      </p:sp>
      <p:sp>
        <p:nvSpPr>
          <p:cNvPr id="302468188" name="Shape 14"/>
          <p:cNvSpPr/>
          <p:nvPr/>
        </p:nvSpPr>
        <p:spPr bwMode="auto">
          <a:xfrm>
            <a:off x="640080" y="4882896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pic>
        <p:nvPicPr>
          <p:cNvPr id="69987922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14400" y="5166360"/>
            <a:ext cx="365760" cy="365760"/>
          </a:xfrm>
          <a:prstGeom prst="rect">
            <a:avLst/>
          </a:prstGeom>
        </p:spPr>
      </p:pic>
      <p:sp>
        <p:nvSpPr>
          <p:cNvPr id="2088222646" name="Text 15"/>
          <p:cNvSpPr/>
          <p:nvPr/>
        </p:nvSpPr>
        <p:spPr bwMode="auto">
          <a:xfrm>
            <a:off x="1463040" y="4992624"/>
            <a:ext cx="4160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Empréstimo / Reserva / Multa</a:t>
            </a:r>
            <a:endParaRPr lang="en-US" sz="1600"/>
          </a:p>
        </p:txBody>
      </p:sp>
      <p:sp>
        <p:nvSpPr>
          <p:cNvPr id="1666929572" name="Text 16"/>
          <p:cNvSpPr/>
          <p:nvPr/>
        </p:nvSpPr>
        <p:spPr bwMode="auto">
          <a:xfrm>
            <a:off x="1463040" y="5367528"/>
            <a:ext cx="4160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EMPRESTIMO · RESERVA · MULTA · MOTIVO_MULTA</a:t>
            </a:r>
            <a:endParaRPr lang="en-US" sz="1100"/>
          </a:p>
        </p:txBody>
      </p:sp>
      <p:sp>
        <p:nvSpPr>
          <p:cNvPr id="10210480" name="Text 17"/>
          <p:cNvSpPr/>
          <p:nvPr/>
        </p:nvSpPr>
        <p:spPr bwMode="auto">
          <a:xfrm>
            <a:off x="6172200" y="1399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O QUE FOI MAIS DIFÍCIL DE MODELAR</a:t>
            </a:r>
            <a:endParaRPr lang="en-US" sz="1200"/>
          </a:p>
        </p:txBody>
      </p:sp>
      <p:sp>
        <p:nvSpPr>
          <p:cNvPr id="517698844" name="Shape 18"/>
          <p:cNvSpPr/>
          <p:nvPr/>
        </p:nvSpPr>
        <p:spPr bwMode="auto">
          <a:xfrm>
            <a:off x="6172200" y="17830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2F7FA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1706520162" name="Shape 19"/>
          <p:cNvSpPr/>
          <p:nvPr/>
        </p:nvSpPr>
        <p:spPr bwMode="auto">
          <a:xfrm>
            <a:off x="6400800" y="2029968"/>
            <a:ext cx="457200" cy="457200"/>
          </a:xfrm>
          <a:prstGeom prst="ellipse">
            <a:avLst/>
          </a:prstGeom>
          <a:solidFill>
            <a:srgbClr val="2BB3A3"/>
          </a:solidFill>
          <a:ln/>
        </p:spPr>
      </p:sp>
      <p:pic>
        <p:nvPicPr>
          <p:cNvPr id="1678618806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92240" y="2121408"/>
            <a:ext cx="274320" cy="274320"/>
          </a:xfrm>
          <a:prstGeom prst="rect">
            <a:avLst/>
          </a:prstGeom>
        </p:spPr>
      </p:pic>
      <p:sp>
        <p:nvSpPr>
          <p:cNvPr id="1287979894" name="Text 20"/>
          <p:cNvSpPr/>
          <p:nvPr/>
        </p:nvSpPr>
        <p:spPr bwMode="auto">
          <a:xfrm>
            <a:off x="6995160" y="19293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Especialização do acervo</a:t>
            </a:r>
            <a:endParaRPr lang="en-US" sz="1550"/>
          </a:p>
        </p:txBody>
      </p:sp>
      <p:sp>
        <p:nvSpPr>
          <p:cNvPr id="1262953567" name="Text 21"/>
          <p:cNvSpPr/>
          <p:nvPr/>
        </p:nvSpPr>
        <p:spPr bwMode="auto">
          <a:xfrm>
            <a:off x="6995160" y="2286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0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Uma tabela única geraria nulos e quebraria a normalização. Resolvido com superclasse ACERVO e três subclasses ligadas por PK = FK (total e disjunta).</a:t>
            </a:r>
            <a:endParaRPr lang="en-US" sz="1200"/>
          </a:p>
        </p:txBody>
      </p:sp>
      <p:sp>
        <p:nvSpPr>
          <p:cNvPr id="814035169" name="Shape 22"/>
          <p:cNvSpPr/>
          <p:nvPr/>
        </p:nvSpPr>
        <p:spPr bwMode="auto">
          <a:xfrm>
            <a:off x="6172200" y="3264408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2F7FA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882018804" name="Shape 23"/>
          <p:cNvSpPr/>
          <p:nvPr/>
        </p:nvSpPr>
        <p:spPr bwMode="auto">
          <a:xfrm>
            <a:off x="6400800" y="3511296"/>
            <a:ext cx="457200" cy="457200"/>
          </a:xfrm>
          <a:prstGeom prst="ellipse">
            <a:avLst/>
          </a:prstGeom>
          <a:solidFill>
            <a:srgbClr val="2BB3A3"/>
          </a:solidFill>
          <a:ln/>
        </p:spPr>
      </p:sp>
      <p:pic>
        <p:nvPicPr>
          <p:cNvPr id="179887110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492240" y="3602735"/>
            <a:ext cx="274320" cy="274320"/>
          </a:xfrm>
          <a:prstGeom prst="rect">
            <a:avLst/>
          </a:prstGeom>
        </p:spPr>
      </p:pic>
      <p:sp>
        <p:nvSpPr>
          <p:cNvPr id="372424598" name="Text 24"/>
          <p:cNvSpPr/>
          <p:nvPr/>
        </p:nvSpPr>
        <p:spPr bwMode="auto">
          <a:xfrm>
            <a:off x="6995160" y="34107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Obra × Exemplar físico</a:t>
            </a:r>
            <a:endParaRPr lang="en-US" sz="1550"/>
          </a:p>
        </p:txBody>
      </p:sp>
      <p:sp>
        <p:nvSpPr>
          <p:cNvPr id="271759955" name="Text 25"/>
          <p:cNvSpPr/>
          <p:nvPr/>
        </p:nvSpPr>
        <p:spPr bwMode="auto">
          <a:xfrm>
            <a:off x="6995160" y="37673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0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A biblioteca tem vários exemplares do mesmo título. Separar ACERVO (a obra) de EXEMPLAR (o tombo) foi essencial — empréstimo ocorre sobre o exemplar.</a:t>
            </a:r>
            <a:endParaRPr lang="en-US" sz="1200"/>
          </a:p>
        </p:txBody>
      </p:sp>
      <p:sp>
        <p:nvSpPr>
          <p:cNvPr id="1106599422" name="Shape 26"/>
          <p:cNvSpPr/>
          <p:nvPr/>
        </p:nvSpPr>
        <p:spPr bwMode="auto">
          <a:xfrm>
            <a:off x="6172200" y="4745736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2F7FA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617016478" name="Shape 27"/>
          <p:cNvSpPr/>
          <p:nvPr/>
        </p:nvSpPr>
        <p:spPr bwMode="auto">
          <a:xfrm>
            <a:off x="6400800" y="4992624"/>
            <a:ext cx="457200" cy="457200"/>
          </a:xfrm>
          <a:prstGeom prst="ellipse">
            <a:avLst/>
          </a:prstGeom>
          <a:solidFill>
            <a:srgbClr val="2BB3A3"/>
          </a:solidFill>
          <a:ln/>
        </p:spPr>
      </p:sp>
      <p:pic>
        <p:nvPicPr>
          <p:cNvPr id="1802791885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492240" y="5084064"/>
            <a:ext cx="274320" cy="274320"/>
          </a:xfrm>
          <a:prstGeom prst="rect">
            <a:avLst/>
          </a:prstGeom>
        </p:spPr>
      </p:pic>
      <p:sp>
        <p:nvSpPr>
          <p:cNvPr id="2055536692" name="Text 28"/>
          <p:cNvSpPr/>
          <p:nvPr/>
        </p:nvSpPr>
        <p:spPr bwMode="auto">
          <a:xfrm>
            <a:off x="6995160" y="4892039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Atributo multivalorado</a:t>
            </a:r>
            <a:endParaRPr lang="en-US" sz="1550"/>
          </a:p>
        </p:txBody>
      </p:sp>
      <p:sp>
        <p:nvSpPr>
          <p:cNvPr id="2025034210" name="Text 29"/>
          <p:cNvSpPr/>
          <p:nvPr/>
        </p:nvSpPr>
        <p:spPr bwMode="auto">
          <a:xfrm>
            <a:off x="6995160" y="524865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0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Telefones viraram tabela própria TELEFONE_USUARIO com PK composta (id_usuario + telefone), evitando colunas repetidas.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F2A4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82916" name="Shape 0"/>
          <p:cNvSpPr/>
          <p:nvPr/>
        </p:nvSpPr>
        <p:spPr bwMode="auto">
          <a:xfrm>
            <a:off x="-2011680" y="4023360"/>
            <a:ext cx="5486400" cy="5486400"/>
          </a:xfrm>
          <a:prstGeom prst="ellipse">
            <a:avLst/>
          </a:prstGeom>
          <a:solidFill>
            <a:srgbClr val="143B5C"/>
          </a:solidFill>
          <a:ln/>
        </p:spPr>
      </p:sp>
      <p:sp>
        <p:nvSpPr>
          <p:cNvPr id="1072088476" name="Text 1"/>
          <p:cNvSpPr/>
          <p:nvPr/>
        </p:nvSpPr>
        <p:spPr bwMode="auto">
          <a:xfrm>
            <a:off x="640080" y="411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Demonstração ao vivo no PostgreSQL</a:t>
            </a:r>
            <a:endParaRPr lang="en-US" sz="3100"/>
          </a:p>
        </p:txBody>
      </p:sp>
      <p:sp>
        <p:nvSpPr>
          <p:cNvPr id="1321431567" name="Text 3"/>
          <p:cNvSpPr/>
          <p:nvPr/>
        </p:nvSpPr>
        <p:spPr bwMode="auto">
          <a:xfrm>
            <a:off x="1056132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4</a:t>
            </a:r>
            <a:r>
              <a:rPr lang="en-US" sz="110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 min</a:t>
            </a:r>
            <a:endParaRPr lang="en-US" sz="1500"/>
          </a:p>
        </p:txBody>
      </p:sp>
      <p:sp>
        <p:nvSpPr>
          <p:cNvPr id="970159099" name="Text 4"/>
          <p:cNvSpPr/>
          <p:nvPr/>
        </p:nvSpPr>
        <p:spPr bwMode="auto">
          <a:xfrm>
            <a:off x="658368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ROTEIRO DA EXECUÇÃO</a:t>
            </a:r>
            <a:endParaRPr lang="en-US" sz="1200"/>
          </a:p>
        </p:txBody>
      </p:sp>
      <p:sp>
        <p:nvSpPr>
          <p:cNvPr id="1792804408" name="Shape 5"/>
          <p:cNvSpPr/>
          <p:nvPr/>
        </p:nvSpPr>
        <p:spPr bwMode="auto">
          <a:xfrm>
            <a:off x="640080" y="1554480"/>
            <a:ext cx="5532120" cy="1024128"/>
          </a:xfrm>
          <a:prstGeom prst="roundRect">
            <a:avLst>
              <a:gd name="adj" fmla="val 8929"/>
            </a:avLst>
          </a:prstGeom>
          <a:solidFill>
            <a:srgbClr val="143B5C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1208806029" name="Shape 6"/>
          <p:cNvSpPr/>
          <p:nvPr/>
        </p:nvSpPr>
        <p:spPr bwMode="auto">
          <a:xfrm>
            <a:off x="868680" y="18379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2926295" name="Text 7"/>
          <p:cNvSpPr/>
          <p:nvPr/>
        </p:nvSpPr>
        <p:spPr bwMode="auto">
          <a:xfrm>
            <a:off x="86868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800"/>
          </a:p>
        </p:txBody>
      </p:sp>
      <p:sp>
        <p:nvSpPr>
          <p:cNvPr id="67899850" name="Text 8"/>
          <p:cNvSpPr/>
          <p:nvPr/>
        </p:nvSpPr>
        <p:spPr bwMode="auto">
          <a:xfrm>
            <a:off x="1463040" y="16824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DDL</a:t>
            </a:r>
            <a:endParaRPr lang="en-US" sz="1600"/>
          </a:p>
        </p:txBody>
      </p:sp>
      <p:sp>
        <p:nvSpPr>
          <p:cNvPr id="1364714775" name="Text 9"/>
          <p:cNvSpPr/>
          <p:nvPr/>
        </p:nvSpPr>
        <p:spPr bwMode="auto">
          <a:xfrm>
            <a:off x="1463040" y="2039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Rodar o script único — DROP + CREATE de 13 tabelas, CHECKs, FKs e views.</a:t>
            </a:r>
            <a:endParaRPr lang="en-US" sz="1200"/>
          </a:p>
        </p:txBody>
      </p:sp>
      <p:sp>
        <p:nvSpPr>
          <p:cNvPr id="838180964" name="Shape 10"/>
          <p:cNvSpPr/>
          <p:nvPr/>
        </p:nvSpPr>
        <p:spPr bwMode="auto">
          <a:xfrm>
            <a:off x="640080" y="2688336"/>
            <a:ext cx="5532120" cy="1024128"/>
          </a:xfrm>
          <a:prstGeom prst="roundRect">
            <a:avLst>
              <a:gd name="adj" fmla="val 8929"/>
            </a:avLst>
          </a:prstGeom>
          <a:solidFill>
            <a:srgbClr val="143B5C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1293086726" name="Shape 11"/>
          <p:cNvSpPr/>
          <p:nvPr/>
        </p:nvSpPr>
        <p:spPr bwMode="auto">
          <a:xfrm>
            <a:off x="868680" y="2971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50886150" name="Text 12"/>
          <p:cNvSpPr/>
          <p:nvPr/>
        </p:nvSpPr>
        <p:spPr bwMode="auto">
          <a:xfrm>
            <a:off x="8686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800"/>
          </a:p>
        </p:txBody>
      </p:sp>
      <p:sp>
        <p:nvSpPr>
          <p:cNvPr id="1380802552" name="Text 13"/>
          <p:cNvSpPr/>
          <p:nvPr/>
        </p:nvSpPr>
        <p:spPr bwMode="auto">
          <a:xfrm>
            <a:off x="1463040" y="2816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DML</a:t>
            </a:r>
            <a:endParaRPr lang="en-US" sz="1600"/>
          </a:p>
        </p:txBody>
      </p:sp>
      <p:sp>
        <p:nvSpPr>
          <p:cNvPr id="2000741858" name="Text 14"/>
          <p:cNvSpPr/>
          <p:nvPr/>
        </p:nvSpPr>
        <p:spPr bwMode="auto">
          <a:xfrm>
            <a:off x="1463040" y="3172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Carga de teste: usuários, acervo, exemplares, empréstimos, reservas e multas.</a:t>
            </a:r>
            <a:endParaRPr lang="en-US" sz="1200"/>
          </a:p>
        </p:txBody>
      </p:sp>
      <p:sp>
        <p:nvSpPr>
          <p:cNvPr id="302154307" name="Shape 15"/>
          <p:cNvSpPr/>
          <p:nvPr/>
        </p:nvSpPr>
        <p:spPr bwMode="auto">
          <a:xfrm>
            <a:off x="640080" y="3822192"/>
            <a:ext cx="5532120" cy="1024128"/>
          </a:xfrm>
          <a:prstGeom prst="roundRect">
            <a:avLst>
              <a:gd name="adj" fmla="val 8929"/>
            </a:avLst>
          </a:prstGeom>
          <a:solidFill>
            <a:srgbClr val="143B5C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1454682306" name="Shape 16"/>
          <p:cNvSpPr/>
          <p:nvPr/>
        </p:nvSpPr>
        <p:spPr bwMode="auto">
          <a:xfrm>
            <a:off x="868680" y="41056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9885213" name="Text 17"/>
          <p:cNvSpPr/>
          <p:nvPr/>
        </p:nvSpPr>
        <p:spPr bwMode="auto">
          <a:xfrm>
            <a:off x="8686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800"/>
          </a:p>
        </p:txBody>
      </p:sp>
      <p:sp>
        <p:nvSpPr>
          <p:cNvPr id="1683198943" name="Text 18"/>
          <p:cNvSpPr/>
          <p:nvPr/>
        </p:nvSpPr>
        <p:spPr bwMode="auto">
          <a:xfrm>
            <a:off x="146304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Índices &amp; Views</a:t>
            </a:r>
            <a:endParaRPr lang="en-US" sz="1600"/>
          </a:p>
        </p:txBody>
      </p:sp>
      <p:sp>
        <p:nvSpPr>
          <p:cNvPr id="886529331" name="Text 19"/>
          <p:cNvSpPr/>
          <p:nvPr/>
        </p:nvSpPr>
        <p:spPr bwMode="auto">
          <a:xfrm>
            <a:off x="1463040" y="43068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Criar índices (inclusive parcial e composto) e as 5 views de apoio.</a:t>
            </a:r>
            <a:endParaRPr lang="en-US" sz="1200"/>
          </a:p>
        </p:txBody>
      </p:sp>
      <p:sp>
        <p:nvSpPr>
          <p:cNvPr id="2050430448" name="Shape 20"/>
          <p:cNvSpPr/>
          <p:nvPr/>
        </p:nvSpPr>
        <p:spPr bwMode="auto">
          <a:xfrm>
            <a:off x="640080" y="4956048"/>
            <a:ext cx="5532120" cy="1024128"/>
          </a:xfrm>
          <a:prstGeom prst="roundRect">
            <a:avLst>
              <a:gd name="adj" fmla="val 8929"/>
            </a:avLst>
          </a:prstGeom>
          <a:solidFill>
            <a:srgbClr val="143B5C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1398346639" name="Shape 21"/>
          <p:cNvSpPr/>
          <p:nvPr/>
        </p:nvSpPr>
        <p:spPr bwMode="auto">
          <a:xfrm>
            <a:off x="868680" y="5239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11744221" name="Text 22"/>
          <p:cNvSpPr/>
          <p:nvPr/>
        </p:nvSpPr>
        <p:spPr bwMode="auto">
          <a:xfrm>
            <a:off x="8686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800"/>
          </a:p>
        </p:txBody>
      </p:sp>
      <p:sp>
        <p:nvSpPr>
          <p:cNvPr id="1634814744" name="Text 23"/>
          <p:cNvSpPr/>
          <p:nvPr/>
        </p:nvSpPr>
        <p:spPr bwMode="auto">
          <a:xfrm>
            <a:off x="1463040" y="5084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Consultas Q1–Q10</a:t>
            </a:r>
            <a:endParaRPr lang="en-US" sz="1600"/>
          </a:p>
        </p:txBody>
      </p:sp>
      <p:sp>
        <p:nvSpPr>
          <p:cNvPr id="2133141224" name="Text 24"/>
          <p:cNvSpPr/>
          <p:nvPr/>
        </p:nvSpPr>
        <p:spPr bwMode="auto">
          <a:xfrm>
            <a:off x="146304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Executar as 10 consultas ao vivo, comentando o objetivo de negócio de cada uma.</a:t>
            </a:r>
            <a:endParaRPr lang="en-US" sz="1200"/>
          </a:p>
        </p:txBody>
      </p:sp>
      <p:sp>
        <p:nvSpPr>
          <p:cNvPr id="1779936278" name="Shape 25"/>
          <p:cNvSpPr/>
          <p:nvPr/>
        </p:nvSpPr>
        <p:spPr bwMode="auto">
          <a:xfrm>
            <a:off x="6446520" y="155448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0B2236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pic>
        <p:nvPicPr>
          <p:cNvPr id="192391412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20840" y="1810512"/>
            <a:ext cx="292608" cy="292608"/>
          </a:xfrm>
          <a:prstGeom prst="rect">
            <a:avLst/>
          </a:prstGeom>
        </p:spPr>
      </p:pic>
      <p:sp>
        <p:nvSpPr>
          <p:cNvPr id="2068954757" name="Text 26"/>
          <p:cNvSpPr/>
          <p:nvPr/>
        </p:nvSpPr>
        <p:spPr bwMode="auto">
          <a:xfrm>
            <a:off x="7114032" y="1792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5EEAD4"/>
                </a:solidFill>
                <a:latin typeface="Courier New"/>
                <a:ea typeface="Courier New"/>
                <a:cs typeface="Courier New"/>
              </a:rPr>
              <a:t>as 10 consultas SQL</a:t>
            </a:r>
            <a:endParaRPr lang="en-US" sz="1500"/>
          </a:p>
        </p:txBody>
      </p:sp>
      <p:sp>
        <p:nvSpPr>
          <p:cNvPr id="1497945280" name="Text 27"/>
          <p:cNvSpPr/>
          <p:nvPr/>
        </p:nvSpPr>
        <p:spPr bwMode="auto">
          <a:xfrm>
            <a:off x="6766560" y="233172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Q1  projeção + seleção (alunos)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Q2  seleção com AND (acervo recente)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Q3  INNER JOIN — livro × ISBN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Q4  JOIN de 4 tabelas + filtro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Q5  LEFT JOIN — endereços sem usuário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Q6  GROUP BY + HAVING (idiomas)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Q7  subconsulta com AVG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Q8  EXISTS — reservas ativas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Q9  consulta sobre VIEW</a:t>
            </a:r>
            <a:endParaRPr lang="en-US" sz="125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250">
                <a:solidFill>
                  <a:srgbClr val="CFE3EE"/>
                </a:solidFill>
                <a:latin typeface="Courier New"/>
                <a:ea typeface="Courier New"/>
                <a:cs typeface="Courier New"/>
              </a:rPr>
              <a:t>Q10 ranking — mais reservados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911076" name="Text 0"/>
          <p:cNvSpPr/>
          <p:nvPr/>
        </p:nvSpPr>
        <p:spPr bwMode="auto">
          <a:xfrm flipH="0" flipV="0">
            <a:off x="2010342" y="2923873"/>
            <a:ext cx="71729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200" b="1">
                <a:solidFill>
                  <a:srgbClr val="12354A"/>
                </a:solidFill>
                <a:latin typeface="Cambria"/>
                <a:ea typeface="Cambria"/>
                <a:cs typeface="Cambria"/>
              </a:rPr>
              <a:t>Desafio técnico</a:t>
            </a:r>
            <a:endParaRPr sz="7200"/>
          </a:p>
        </p:txBody>
      </p:sp>
      <p:pic>
        <p:nvPicPr>
          <p:cNvPr id="9215972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49600" y="4274289"/>
            <a:ext cx="3894432" cy="2592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2A4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808009" name="Shape 0"/>
          <p:cNvSpPr/>
          <p:nvPr/>
        </p:nvSpPr>
        <p:spPr bwMode="auto">
          <a:xfrm>
            <a:off x="8595360" y="2377440"/>
            <a:ext cx="5943600" cy="5943600"/>
          </a:xfrm>
          <a:prstGeom prst="ellipse">
            <a:avLst/>
          </a:prstGeom>
          <a:solidFill>
            <a:srgbClr val="143B5C"/>
          </a:solidFill>
          <a:ln/>
        </p:spPr>
      </p:sp>
      <p:sp>
        <p:nvSpPr>
          <p:cNvPr id="124277266" name="Shape 1"/>
          <p:cNvSpPr/>
          <p:nvPr/>
        </p:nvSpPr>
        <p:spPr bwMode="auto">
          <a:xfrm>
            <a:off x="-2286000" y="-228600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pic>
        <p:nvPicPr>
          <p:cNvPr id="21893326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" y="1371600"/>
            <a:ext cx="640080" cy="640080"/>
          </a:xfrm>
          <a:prstGeom prst="rect">
            <a:avLst/>
          </a:prstGeom>
        </p:spPr>
      </p:pic>
      <p:sp>
        <p:nvSpPr>
          <p:cNvPr id="1476236051" name="Text 2"/>
          <p:cNvSpPr/>
          <p:nvPr/>
        </p:nvSpPr>
        <p:spPr bwMode="auto">
          <a:xfrm>
            <a:off x="1600200" y="1371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Da teoria à prática</a:t>
            </a:r>
            <a:endParaRPr lang="en-US" sz="3400"/>
          </a:p>
        </p:txBody>
      </p:sp>
      <p:sp>
        <p:nvSpPr>
          <p:cNvPr id="310054891" name="Text 3"/>
          <p:cNvSpPr/>
          <p:nvPr/>
        </p:nvSpPr>
        <p:spPr bwMode="auto">
          <a:xfrm>
            <a:off x="868680" y="22860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70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Partimos de um problema real e chegamos a um banco normalizado, íntegro e consultável — entendendo por que cada decisão de modelagem importa.</a:t>
            </a:r>
            <a:endParaRPr lang="en-US" sz="1700"/>
          </a:p>
        </p:txBody>
      </p:sp>
      <p:sp>
        <p:nvSpPr>
          <p:cNvPr id="2024272918" name="Shape 4"/>
          <p:cNvSpPr/>
          <p:nvPr/>
        </p:nvSpPr>
        <p:spPr bwMode="auto">
          <a:xfrm>
            <a:off x="822960" y="3429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3B5C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393060065" name="Text 5"/>
          <p:cNvSpPr/>
          <p:nvPr/>
        </p:nvSpPr>
        <p:spPr bwMode="auto">
          <a:xfrm>
            <a:off x="822960" y="3584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13</a:t>
            </a:r>
            <a:endParaRPr lang="en-US" sz="3600"/>
          </a:p>
        </p:txBody>
      </p:sp>
      <p:sp>
        <p:nvSpPr>
          <p:cNvPr id="472434648" name="Text 6"/>
          <p:cNvSpPr/>
          <p:nvPr/>
        </p:nvSpPr>
        <p:spPr bwMode="auto">
          <a:xfrm>
            <a:off x="960120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tabelas em 4 módulos</a:t>
            </a:r>
            <a:endParaRPr lang="en-US" sz="1250"/>
          </a:p>
        </p:txBody>
      </p:sp>
      <p:sp>
        <p:nvSpPr>
          <p:cNvPr id="995670423" name="Shape 7"/>
          <p:cNvSpPr/>
          <p:nvPr/>
        </p:nvSpPr>
        <p:spPr bwMode="auto">
          <a:xfrm>
            <a:off x="3584448" y="3429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3B5C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65875967" name="Text 8"/>
          <p:cNvSpPr/>
          <p:nvPr/>
        </p:nvSpPr>
        <p:spPr bwMode="auto">
          <a:xfrm>
            <a:off x="3584448" y="3584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3FN</a:t>
            </a:r>
            <a:endParaRPr lang="en-US" sz="3600"/>
          </a:p>
        </p:txBody>
      </p:sp>
      <p:sp>
        <p:nvSpPr>
          <p:cNvPr id="696124447" name="Text 9"/>
          <p:cNvSpPr/>
          <p:nvPr/>
        </p:nvSpPr>
        <p:spPr bwMode="auto">
          <a:xfrm>
            <a:off x="3721608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esquema normalizado</a:t>
            </a:r>
            <a:endParaRPr lang="en-US" sz="1250"/>
          </a:p>
        </p:txBody>
      </p:sp>
      <p:sp>
        <p:nvSpPr>
          <p:cNvPr id="507166208" name="Shape 10"/>
          <p:cNvSpPr/>
          <p:nvPr/>
        </p:nvSpPr>
        <p:spPr bwMode="auto">
          <a:xfrm>
            <a:off x="6345936" y="3429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3B5C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685134445" name="Text 11"/>
          <p:cNvSpPr/>
          <p:nvPr/>
        </p:nvSpPr>
        <p:spPr bwMode="auto">
          <a:xfrm>
            <a:off x="6345936" y="3584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10</a:t>
            </a:r>
            <a:endParaRPr lang="en-US" sz="3600"/>
          </a:p>
        </p:txBody>
      </p:sp>
      <p:sp>
        <p:nvSpPr>
          <p:cNvPr id="1644162767" name="Text 12"/>
          <p:cNvSpPr/>
          <p:nvPr/>
        </p:nvSpPr>
        <p:spPr bwMode="auto">
          <a:xfrm>
            <a:off x="6483096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consultas de negócio</a:t>
            </a:r>
            <a:endParaRPr lang="en-US" sz="1250"/>
          </a:p>
        </p:txBody>
      </p:sp>
      <p:sp>
        <p:nvSpPr>
          <p:cNvPr id="1005080084" name="Shape 13"/>
          <p:cNvSpPr/>
          <p:nvPr/>
        </p:nvSpPr>
        <p:spPr bwMode="auto">
          <a:xfrm>
            <a:off x="9107424" y="3429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3B5C"/>
          </a:solidFill>
          <a:ln/>
          <a:effectLst>
            <a:outerShdw blurRad="101600" dist="38100" dir="5400000" sx="100000" sy="100000" kx="0" ky="0" algn="bl" rotWithShape="0">
              <a:srgbClr val="0F2A43">
                <a:alpha val="12000"/>
              </a:srgbClr>
            </a:outerShdw>
          </a:effectLst>
        </p:spPr>
      </p:sp>
      <p:sp>
        <p:nvSpPr>
          <p:cNvPr id="1668304549" name="Text 14"/>
          <p:cNvSpPr/>
          <p:nvPr/>
        </p:nvSpPr>
        <p:spPr bwMode="auto">
          <a:xfrm>
            <a:off x="9107424" y="3584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5</a:t>
            </a:r>
            <a:endParaRPr lang="en-US" sz="3600"/>
          </a:p>
        </p:txBody>
      </p:sp>
      <p:sp>
        <p:nvSpPr>
          <p:cNvPr id="3474440" name="Text 15"/>
          <p:cNvSpPr/>
          <p:nvPr/>
        </p:nvSpPr>
        <p:spPr bwMode="auto">
          <a:xfrm>
            <a:off x="9244584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views + índices otimizados</a:t>
            </a:r>
            <a:endParaRPr lang="en-US" sz="1250"/>
          </a:p>
        </p:txBody>
      </p:sp>
      <p:sp>
        <p:nvSpPr>
          <p:cNvPr id="1210985760" name="Shape 16"/>
          <p:cNvSpPr/>
          <p:nvPr/>
        </p:nvSpPr>
        <p:spPr bwMode="auto">
          <a:xfrm>
            <a:off x="868680" y="5257800"/>
            <a:ext cx="1042416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409963200" name="Text 17"/>
          <p:cNvSpPr/>
          <p:nvPr/>
        </p:nvSpPr>
        <p:spPr bwMode="auto">
          <a:xfrm>
            <a:off x="86868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Obrigado!</a:t>
            </a:r>
            <a:endParaRPr lang="en-US" sz="2400"/>
          </a:p>
        </p:txBody>
      </p:sp>
      <p:sp>
        <p:nvSpPr>
          <p:cNvPr id="1484120947" name="Text 18"/>
          <p:cNvSpPr/>
          <p:nvPr/>
        </p:nvSpPr>
        <p:spPr bwMode="auto">
          <a:xfrm>
            <a:off x="868680" y="6035039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A7585"/>
                </a:solidFill>
                <a:latin typeface="Calibri"/>
                <a:ea typeface="Calibri"/>
                <a:cs typeface="Calibri"/>
              </a:rPr>
              <a:t>Equipe Biblioteca · PUC Minas · ICEI · Banco de Dados 2026/1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de Biblioteca Universitária</dc:title>
  <dc:subject>PptxGenJS Presentation</dc:subject>
  <dc:creator>Equipe Biblioteca · PUC Minas</dc:creator>
  <cp:lastModifiedBy/>
  <cp:revision>2</cp:revision>
  <dcterms:created xsi:type="dcterms:W3CDTF">2026-06-22T20:10:42Z</dcterms:created>
  <dcterms:modified xsi:type="dcterms:W3CDTF">2026-06-22T20:24:12Z</dcterms:modified>
</cp:coreProperties>
</file>