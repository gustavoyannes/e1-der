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87E8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1188720"/>
            <a:ext cx="2743200" cy="2743200"/>
          </a:xfrm>
          <a:prstGeom prst="ellipse">
            <a:avLst/>
          </a:prstGeom>
          <a:solidFill>
            <a:srgbClr val="F2A65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846320"/>
            <a:ext cx="3474720" cy="3474720"/>
          </a:xfrm>
          <a:prstGeom prst="ellipse">
            <a:avLst/>
          </a:prstGeom>
          <a:solidFill>
            <a:srgbClr val="16C79A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25880"/>
            <a:ext cx="868680" cy="86868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56362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</a:rPr>
              <a:t>MOSTRA DE PROJETOS · ETAPA 5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Gestão de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Universitária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C"/>
                </a:solidFill>
              </a:rPr>
              <a:t>Banco de dados relacional implementado em PostgreSQL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6EC"/>
                </a:solidFill>
              </a:rPr>
              <a:t>PUC Minas · ICEI · Banco de Dados 2026/1 · Engenharia de Software (2º Período)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Prof. Cristiano de Macedo Neto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87E8B"/>
                </a:solidFill>
              </a:rPr>
              <a:t>ROTEIRO DA APRESENTAÇÃO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minutos, 5 momentos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1096"/>
            <a:ext cx="493776" cy="493776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299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E8B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057400" y="1874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Domínio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94960" y="18745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Que problema o banco resolve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287000" y="195681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7000" y="19568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7E8B"/>
                </a:solidFill>
              </a:rPr>
              <a:t>2 min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679192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2807208"/>
            <a:ext cx="493776" cy="493776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2608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7889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A3B1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057400" y="27706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DER &amp; Modelagem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394960" y="27706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Decisões e desafios do modelo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10287000" y="2852928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287000" y="28529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A3B1"/>
                </a:solidFill>
              </a:rPr>
              <a:t>3 min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3575304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703320"/>
            <a:ext cx="493776" cy="493776"/>
          </a:xfrm>
          <a:prstGeom prst="ellipse">
            <a:avLst/>
          </a:prstGeom>
          <a:solidFill>
            <a:srgbClr val="16C79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82219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36850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C79A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2057400" y="36667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Demonstração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5394960" y="36667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DDL, DML e 10 consultas ao vivo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10287000" y="374904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287000" y="374904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C79A"/>
                </a:solidFill>
              </a:rPr>
              <a:t>4 min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548640" y="4471416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77240" y="4599432"/>
            <a:ext cx="493776" cy="493776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718304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508760" y="458114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5A"/>
                </a:solidFill>
              </a:rPr>
              <a:t>4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2057400" y="45628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Desafio técnico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5394960" y="45628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Query de negócio na hora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10287000" y="464515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287000" y="464515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65A"/>
                </a:solidFill>
              </a:rPr>
              <a:t>3 min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548640" y="5367528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77240" y="5495544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14416"/>
            <a:ext cx="256032" cy="25603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508760" y="547725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</a:rPr>
              <a:t>5</a:t>
            </a:r>
            <a:endParaRPr lang="en-US" sz="2200" dirty="0"/>
          </a:p>
        </p:txBody>
      </p:sp>
      <p:sp>
        <p:nvSpPr>
          <p:cNvPr id="40" name="Text 33"/>
          <p:cNvSpPr/>
          <p:nvPr/>
        </p:nvSpPr>
        <p:spPr>
          <a:xfrm>
            <a:off x="2057400" y="5458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Retrospectiva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5394960" y="54589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Aprendizados e melhorias</a:t>
            </a:r>
            <a:endParaRPr lang="en-US" sz="1350" dirty="0"/>
          </a:p>
        </p:txBody>
      </p:sp>
      <p:sp>
        <p:nvSpPr>
          <p:cNvPr id="42" name="Shape 35"/>
          <p:cNvSpPr/>
          <p:nvPr/>
        </p:nvSpPr>
        <p:spPr>
          <a:xfrm>
            <a:off x="10287000" y="5541264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10287000" y="554126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</a:rPr>
              <a:t>3 min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PUC Minas · ICEI · Banco de Dados 2026/1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9880" y="4572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18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3928" y="457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2 min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87E8B"/>
                </a:solidFill>
              </a:rPr>
              <a:t>MOMENTO 1 — DOMÍNIO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problema o banco resolve?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87E8B"/>
                </a:solidFill>
              </a:rPr>
              <a:t>O contexto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E293B"/>
                </a:solidFill>
              </a:rPr>
              <a:t>Uma biblioteca universitária precisa controlar seu acervo, os exemplares físicos e digitais, e todo o ciclo de empréstimos, reservas e multas dos usuários.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87E8B"/>
                </a:solidFill>
              </a:rPr>
              <a:t>Por que este domínio?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E293B"/>
                </a:solidFill>
              </a:rPr>
              <a:t>É próximo da realidade dos alunos, tem regras de negócio ricas (prazos, status, penalidades) e exige relacionamentos variados — ideal para exercitar modelagem relacional.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066544"/>
            <a:ext cx="603504" cy="603504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2199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11112" y="2724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Acervo organizado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611112" y="30175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FE6EC"/>
                </a:solidFill>
              </a:rPr>
              <a:t>Livros, periódicos e e-books num só catálogo.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052560" y="18288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08592" y="2066544"/>
            <a:ext cx="603504" cy="603504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22199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08592" y="2724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Controle de empréstimos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308592" y="30175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FE6EC"/>
                </a:solidFill>
              </a:rPr>
              <a:t>Quem pegou o quê, prazos e devoluções.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55080" y="36118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3849624"/>
            <a:ext cx="603504" cy="603504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00507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11112" y="45079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Reservas e filas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611112" y="4800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FE6EC"/>
                </a:solidFill>
              </a:rPr>
              <a:t>Demanda por materiais indisponíveis.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052560" y="36118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08592" y="3849624"/>
            <a:ext cx="603504" cy="603504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400507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08592" y="45079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Multas automáticas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308592" y="4800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FE6EC"/>
                </a:solidFill>
              </a:rPr>
              <a:t>Penalidades por atraso ou dano.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PUC Minas · ICEI · Banco de Dados 2026/1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9880" y="4572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18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3928" y="457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3 min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87E8B"/>
                </a:solidFill>
              </a:rPr>
              <a:t>MOMENTO 2 — DER E MODELAGEM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decisões e desafios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</a:rPr>
              <a:t>Os 4 módulos do modelo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276856"/>
            <a:ext cx="310896" cy="31089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Usuário &amp; Endereço — com telefone multivalorado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935224"/>
            <a:ext cx="310896" cy="31089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2898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Acervo — superclasse com 3 especializações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593592"/>
            <a:ext cx="310896" cy="31089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35570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Tombamento — exemplares físicos e localização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251960"/>
            <a:ext cx="310896" cy="310896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7280" y="42153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Empréstimo, Reserva &amp; Multa — o ciclo de uso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55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</a:rPr>
              <a:t>O que foi mais difícil de modelar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55080" y="2194560"/>
            <a:ext cx="5257800" cy="1115568"/>
          </a:xfrm>
          <a:prstGeom prst="roundRect">
            <a:avLst>
              <a:gd name="adj" fmla="val 8197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83680" y="246888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65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0604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31520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</a:rPr>
              <a:t>Especialização do acervo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7315200" y="2706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Superclasse ACERVO + subclasses LIVRO / PERIODICO / EBOOK (PK = FK), evitando nulos.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355080" y="3474720"/>
            <a:ext cx="5257800" cy="1115568"/>
          </a:xfrm>
          <a:prstGeom prst="roundRect">
            <a:avLst>
              <a:gd name="adj" fmla="val 8197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583680" y="37490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65A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886200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315200" y="3639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</a:rPr>
              <a:t>Obra × Exemplar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7315200" y="398678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Separar o título (ACERVO) da cópia física (EXEMPLAR) que tem tombo, status e local.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355080" y="4754880"/>
            <a:ext cx="5257800" cy="1115568"/>
          </a:xfrm>
          <a:prstGeom prst="roundRect">
            <a:avLst>
              <a:gd name="adj" fmla="val 8197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583680" y="502920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65A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5166360"/>
            <a:ext cx="292608" cy="2926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15200" y="49194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</a:rPr>
              <a:t>Atributo multivalorado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7315200" y="526694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Telefones em tabela própria com chave primária composta.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PUC Minas · ICEI · Banco de Dados 2026/1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9880" y="4572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18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3928" y="457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4 min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87E8B"/>
                </a:solidFill>
              </a:rPr>
              <a:t>MOMENTO 3 — DEMONSTRAÇÃO AO VIVO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Executando o banco no PostgreSQL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</a:rPr>
              <a:t>Roteiro da demo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395728"/>
            <a:ext cx="402336" cy="402336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4963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3134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DDL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017520" y="23134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Criação das 13 tabelas com PKs, FKs e CHECKs.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081528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3236976"/>
            <a:ext cx="402336" cy="402336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33756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DML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17520" y="31546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Carga de dados de teste em todos os módulos.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922776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4078224"/>
            <a:ext cx="402336" cy="402336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788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9959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Views &amp; Índices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017520" y="39959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 visões e 15 índices de otimização.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764024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49808" y="4919472"/>
            <a:ext cx="402336" cy="402336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020056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48371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10 Consultas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017520" y="48371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Q1 a Q10 executadas e comentadas.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63640" y="19202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37960" y="217627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0" name="Shape 23"/>
          <p:cNvSpPr/>
          <p:nvPr/>
        </p:nvSpPr>
        <p:spPr>
          <a:xfrm>
            <a:off x="6766560" y="217627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4"/>
          <p:cNvSpPr/>
          <p:nvPr/>
        </p:nvSpPr>
        <p:spPr>
          <a:xfrm>
            <a:off x="6995160" y="217627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2" name="Text 25"/>
          <p:cNvSpPr/>
          <p:nvPr/>
        </p:nvSpPr>
        <p:spPr>
          <a:xfrm>
            <a:off x="731520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6EC"/>
                </a:solidFill>
              </a:rPr>
              <a:t>psql — biblioteca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537960" y="269748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Q4: empréstimos ativos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u.primeiro_nome, a.titulo,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e.status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emprestimo e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usuario u  ON e.id_usuario=u.id_usuario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exemplar ex ON e.id_tombo=ex.id_tombo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acervo a   ON ex.id_acervo=a.id_acervo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e.status = 'ativo';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primeiro_nome |    titulo     | status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---------------+---------------+-------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PUC Minas · ICEI · Banco de Dados 2026/1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87E8B"/>
                </a:solidFill>
              </a:rPr>
              <a:t>DEMONSTRAÇÃO — CONSULTAS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 consultas 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38528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Projeção e seleção simples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1938528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93852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69480" y="17830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Operadores lógicos (AND)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624328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779776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7797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62432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INNER JOIN (2 tabelas)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624328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2779776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7797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262432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INNER JOIN (4 tabelas)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465576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621024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62102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34655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LEFT OUTER JOIN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3465576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3368" y="3621024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362102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69480" y="34655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GROUP BY + HAVING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306824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462272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46227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45920" y="430682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Subconsulta com média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72200" y="4306824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73368" y="4462272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446227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69480" y="430682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EXISTS correlacionado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8640" y="5148072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5303520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530352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45920" y="514807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Consulta sobre VIEW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172200" y="5148072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73368" y="5303520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87E8B"/>
          </a:solidFill>
          <a:ln/>
        </p:spPr>
      </p:sp>
      <p:sp>
        <p:nvSpPr>
          <p:cNvPr id="42" name="Text 40"/>
          <p:cNvSpPr/>
          <p:nvPr/>
        </p:nvSpPr>
        <p:spPr>
          <a:xfrm>
            <a:off x="6373368" y="530352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269480" y="514807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Ranking de negócio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PUC Minas · ICEI · Banco de Dados 2026/1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023360" cy="4023360"/>
          </a:xfrm>
          <a:prstGeom prst="ellipse">
            <a:avLst/>
          </a:prstGeom>
          <a:solidFill>
            <a:srgbClr val="F2A65A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474720" cy="3474720"/>
          </a:xfrm>
          <a:prstGeom prst="ellipse">
            <a:avLst/>
          </a:prstGeom>
          <a:solidFill>
            <a:srgbClr val="087E8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0292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4" y="6217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6768" y="502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3 min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</a:rPr>
              <a:t>MOMENTO 4 — DESAFIO TÉCNICO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a query na hora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6EC"/>
                </a:solidFill>
              </a:rPr>
              <a:t>O professor ou a turma lança uma pergunta de negócio não preparada e a equipe constrói a consulta ao vivo no PostgreSQL.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</a:rPr>
              <a:t>Nossa estratégia em 4 passos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1148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12345E"/>
          </a:solidFill>
          <a:ln/>
        </p:spPr>
      </p:sp>
      <p:sp>
        <p:nvSpPr>
          <p:cNvPr id="12" name="Shape 9"/>
          <p:cNvSpPr/>
          <p:nvPr/>
        </p:nvSpPr>
        <p:spPr>
          <a:xfrm>
            <a:off x="1078992" y="4370832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737360" y="44074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Entender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78992" y="5029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6EC"/>
                </a:solidFill>
              </a:rPr>
              <a:t>Que entidades e tabelas a pergunta envolve?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41148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12345E"/>
          </a:solidFill>
          <a:ln/>
        </p:spPr>
      </p:sp>
      <p:sp>
        <p:nvSpPr>
          <p:cNvPr id="17" name="Shape 14"/>
          <p:cNvSpPr/>
          <p:nvPr/>
        </p:nvSpPr>
        <p:spPr>
          <a:xfrm>
            <a:off x="3776472" y="4370832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5"/>
          <p:cNvSpPr/>
          <p:nvPr/>
        </p:nvSpPr>
        <p:spPr>
          <a:xfrm>
            <a:off x="3776472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434840" y="44074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Mapear JOINs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76472" y="5029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6EC"/>
                </a:solidFill>
              </a:rPr>
              <a:t>Caminho entre as tabelas pelas chaves.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41148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12345E"/>
          </a:solidFill>
          <a:ln/>
        </p:spPr>
      </p:sp>
      <p:sp>
        <p:nvSpPr>
          <p:cNvPr id="22" name="Shape 19"/>
          <p:cNvSpPr/>
          <p:nvPr/>
        </p:nvSpPr>
        <p:spPr>
          <a:xfrm>
            <a:off x="6473952" y="4370832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20"/>
          <p:cNvSpPr/>
          <p:nvPr/>
        </p:nvSpPr>
        <p:spPr>
          <a:xfrm>
            <a:off x="6473952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132320" y="44074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Filtrar &amp; agregar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73952" y="5029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6EC"/>
                </a:solidFill>
              </a:rPr>
              <a:t>WHERE, GROUP BY, agregações certas.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915400" y="41148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12345E"/>
          </a:solidFill>
          <a:ln/>
        </p:spPr>
      </p:sp>
      <p:sp>
        <p:nvSpPr>
          <p:cNvPr id="27" name="Shape 24"/>
          <p:cNvSpPr/>
          <p:nvPr/>
        </p:nvSpPr>
        <p:spPr>
          <a:xfrm>
            <a:off x="9171432" y="4370832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8" name="Text 25"/>
          <p:cNvSpPr/>
          <p:nvPr/>
        </p:nvSpPr>
        <p:spPr>
          <a:xfrm>
            <a:off x="9171432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829800" y="44074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Testar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171432" y="5029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6EC"/>
                </a:solidFill>
              </a:rPr>
              <a:t>Rodar, ler o resultado e ajustar.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9880" y="4572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18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3928" y="457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3 min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87E8B"/>
                </a:solidFill>
              </a:rPr>
              <a:t>MOMENTO 5 — RETROSPECTIVA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C79A"/>
                </a:solidFill>
              </a:rPr>
              <a:t>Aprendizados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5349240" cy="768096"/>
          </a:xfrm>
          <a:prstGeom prst="roundRect">
            <a:avLst>
              <a:gd name="adj" fmla="val 1190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41401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51460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33172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Modelagem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017520" y="233172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Especialização e a diferença entre obra e exemplar.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136392"/>
            <a:ext cx="5349240" cy="768096"/>
          </a:xfrm>
          <a:prstGeom prst="roundRect">
            <a:avLst>
              <a:gd name="adj" fmla="val 1190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33101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1071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22783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SQL na prática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17520" y="322783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 projeções simples a EXISTS e agregações.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4032504"/>
            <a:ext cx="5349240" cy="768096"/>
          </a:xfrm>
          <a:prstGeom prst="roundRect">
            <a:avLst>
              <a:gd name="adj" fmla="val 1190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42062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30682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12394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Integridade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017520" y="412394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CHECKs e FKs protegem os dados na origem.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928616"/>
            <a:ext cx="5349240" cy="768096"/>
          </a:xfrm>
          <a:prstGeom prst="roundRect">
            <a:avLst>
              <a:gd name="adj" fmla="val 1190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49808" y="510235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C79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202936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502005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Colaboração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017520" y="5020056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Git e divisão por módulos para trabalhar em paralelo.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355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</a:rPr>
              <a:t>O que faríamos diferente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355080" y="2240280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56248" y="241401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65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251460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233172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Dicionário cedo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915400" y="2331720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Definir nomenclatura e dicionário no início.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355080" y="3136392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556248" y="33101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65A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341071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32320" y="322783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Dados antes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8915400" y="3227832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Carga de teste cedo revela falhas que o DDL esconde.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355080" y="4032504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556248" y="42062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65A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4306824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32320" y="412394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Consultas guiando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8915400" y="4123944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Validar o modelo com as perguntas de negócio.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6355080" y="4928616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EE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556248" y="510235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65A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5202936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132320" y="502005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Script automatizado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915400" y="502005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Arquivo único com DROP para reexecutar fácil.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PUC Minas · ICEI · Banco de Dados 2026/1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023360"/>
            <a:ext cx="4206240" cy="4206240"/>
          </a:xfrm>
          <a:prstGeom prst="ellipse">
            <a:avLst/>
          </a:prstGeom>
          <a:solidFill>
            <a:srgbClr val="087E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F2A65A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94560"/>
            <a:ext cx="914400" cy="91440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505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65A"/>
                </a:solidFill>
              </a:rPr>
              <a:t>Perguntas?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EC"/>
                </a:solidFill>
              </a:rPr>
              <a:t>Repositório com a tag e5-final · Script SQL, DER, dicionário de dados e reflexão entregues no Canvas.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Mostra de Projetos - Biblioteca</dc:title>
  <dc:subject>PptxGenJS Presentation</dc:subject>
  <dc:creator>Equipe E5 - PUC Minas</dc:creator>
  <cp:lastModifiedBy>Equipe E5 - PUC Minas</cp:lastModifiedBy>
  <cp:revision>1</cp:revision>
  <dcterms:created xsi:type="dcterms:W3CDTF">2026-06-16T23:53:25Z</dcterms:created>
  <dcterms:modified xsi:type="dcterms:W3CDTF">2026-06-16T23:53:25Z</dcterms:modified>
</cp:coreProperties>
</file>